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a2481910f074443f"/><Relationship Type="http://schemas.openxmlformats.org/officeDocument/2006/relationships/extended-properties" Target="/docProps/app.xml" Id="Re9ca0e8449504cec"/><Relationship Type="http://schemas.openxmlformats.org/officeDocument/2006/relationships/officeDocument" Target="/ppt/presentation.xml" Id="R45de90c56e824677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d656a739d94bbe"/>
  </p:sldMasterIdLst>
  <p:notesMasterIdLst>
    <p:notesMasterId xmlns:r="http://schemas.openxmlformats.org/officeDocument/2006/relationships" r:id="R1c1b562fbfc64a1d"/>
  </p:notesMasterIdLst>
  <p:sldIdLst>
    <p:sldId xmlns:r="http://schemas.openxmlformats.org/officeDocument/2006/relationships" id="256" r:id="R704bab8b8af64fab"/>
    <p:sldId xmlns:r="http://schemas.openxmlformats.org/officeDocument/2006/relationships" id="257" r:id="R061b9be613bf4d00"/>
    <p:sldId xmlns:r="http://schemas.openxmlformats.org/officeDocument/2006/relationships" id="258" r:id="R3bb84c1cfdb046af"/>
    <p:sldId xmlns:r="http://schemas.openxmlformats.org/officeDocument/2006/relationships" id="259" r:id="Rd755850aa2214199"/>
    <p:sldId xmlns:r="http://schemas.openxmlformats.org/officeDocument/2006/relationships" id="260" r:id="R710fe45e6c204ce1"/>
    <p:sldId xmlns:r="http://schemas.openxmlformats.org/officeDocument/2006/relationships" id="261" r:id="Rab500f9bdc0c4d46"/>
    <p:sldId xmlns:r="http://schemas.openxmlformats.org/officeDocument/2006/relationships" id="262" r:id="R92dad93823d14274"/>
    <p:sldId xmlns:r="http://schemas.openxmlformats.org/officeDocument/2006/relationships" id="263" r:id="R4250641887514a33"/>
    <p:sldId xmlns:r="http://schemas.openxmlformats.org/officeDocument/2006/relationships" id="264" r:id="Rbd2f8afb503a47e0"/>
    <p:sldId xmlns:r="http://schemas.openxmlformats.org/officeDocument/2006/relationships" id="265" r:id="R0cfabac093034019"/>
    <p:sldId xmlns:r="http://schemas.openxmlformats.org/officeDocument/2006/relationships" id="266" r:id="Rbdd6562a890d4b24"/>
    <p:sldId xmlns:r="http://schemas.openxmlformats.org/officeDocument/2006/relationships" id="267" r:id="R6e72f30fd73a4302"/>
    <p:sldId xmlns:r="http://schemas.openxmlformats.org/officeDocument/2006/relationships" id="268" r:id="R8a17bbbcd09a40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b8d656a739d94bbe"/><Relationship Type="http://schemas.openxmlformats.org/officeDocument/2006/relationships/theme" Target="/ppt/theme/theme1.xml" Id="R9287e8f01fb64978"/><Relationship Type="http://schemas.openxmlformats.org/officeDocument/2006/relationships/notesMaster" Target="/ppt/notesMasters/notesMaster1.xml" Id="R1c1b562fbfc64a1d"/><Relationship Type="http://schemas.openxmlformats.org/officeDocument/2006/relationships/presProps" Target="/ppt/presProps.xml" Id="Re7b0c20f004a4049"/><Relationship Type="http://schemas.openxmlformats.org/officeDocument/2006/relationships/viewProps" Target="/ppt/viewProps.xml" Id="Rcaa23d7e19f64467"/><Relationship Type="http://schemas.openxmlformats.org/officeDocument/2006/relationships/tableStyles" Target="/ppt/tableStyles.xml" Id="Re7c31c380596447e"/><Relationship Type="http://schemas.openxmlformats.org/officeDocument/2006/relationships/slide" Target="/ppt/slides/slide1.xml" Id="R704bab8b8af64fab"/><Relationship Type="http://schemas.openxmlformats.org/officeDocument/2006/relationships/slide" Target="/ppt/slides/slide2.xml" Id="R061b9be613bf4d00"/><Relationship Type="http://schemas.openxmlformats.org/officeDocument/2006/relationships/slide" Target="/ppt/slides/slide3.xml" Id="R3bb84c1cfdb046af"/><Relationship Type="http://schemas.openxmlformats.org/officeDocument/2006/relationships/slide" Target="/ppt/slides/slide4.xml" Id="Rd755850aa2214199"/><Relationship Type="http://schemas.openxmlformats.org/officeDocument/2006/relationships/slide" Target="/ppt/slides/slide5.xml" Id="R710fe45e6c204ce1"/><Relationship Type="http://schemas.openxmlformats.org/officeDocument/2006/relationships/slide" Target="/ppt/slides/slide6.xml" Id="Rab500f9bdc0c4d46"/><Relationship Type="http://schemas.openxmlformats.org/officeDocument/2006/relationships/slide" Target="/ppt/slides/slide7.xml" Id="R92dad93823d14274"/><Relationship Type="http://schemas.openxmlformats.org/officeDocument/2006/relationships/slide" Target="/ppt/slides/slide8.xml" Id="R4250641887514a33"/><Relationship Type="http://schemas.openxmlformats.org/officeDocument/2006/relationships/slide" Target="/ppt/slides/slide9.xml" Id="Rbd2f8afb503a47e0"/><Relationship Type="http://schemas.openxmlformats.org/officeDocument/2006/relationships/slide" Target="/ppt/slides/slide10.xml" Id="R0cfabac093034019"/><Relationship Type="http://schemas.openxmlformats.org/officeDocument/2006/relationships/slide" Target="/ppt/slides/slide11.xml" Id="Rbdd6562a890d4b24"/><Relationship Type="http://schemas.openxmlformats.org/officeDocument/2006/relationships/slide" Target="/ppt/slides/slide12.xml" Id="R6e72f30fd73a4302"/><Relationship Type="http://schemas.openxmlformats.org/officeDocument/2006/relationships/slide" Target="/ppt/slides/slide13.xml" Id="R8a17bbbcd09a407d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2.xml" Id="Re58d9c98d33f404c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Wirkungsoekonomie">
  <a:themeElements>
    <a:clrScheme name="Wirkungsoekonomi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irkungsoekonomi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9b8871e3820e4464"/><Relationship Type="http://schemas.openxmlformats.org/officeDocument/2006/relationships/notesMaster" Target="/ppt/notesMasters/notesMaster1.xml" Id="R2b9f59bc744e4dd0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7aaed8f46eb94fd2"/><Relationship Type="http://schemas.openxmlformats.org/officeDocument/2006/relationships/notesMaster" Target="/ppt/notesMasters/notesMaster1.xml" Id="R1bb7c04329a94137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ee1ac3aa238f4bdd"/><Relationship Type="http://schemas.openxmlformats.org/officeDocument/2006/relationships/notesMaster" Target="/ppt/notesMasters/notesMaster1.xml" Id="R085a1c4ba27b47cb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fbcbeaa9f3ef4a6e"/><Relationship Type="http://schemas.openxmlformats.org/officeDocument/2006/relationships/notesMaster" Target="/ppt/notesMasters/notesMaster1.xml" Id="R3424157ea9e64fa7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d80f25e2054646b5"/><Relationship Type="http://schemas.openxmlformats.org/officeDocument/2006/relationships/notesMaster" Target="/ppt/notesMasters/notesMaster1.xml" Id="Rfa02cf5895f745d2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2f03068c933c47f8"/><Relationship Type="http://schemas.openxmlformats.org/officeDocument/2006/relationships/notesMaster" Target="/ppt/notesMasters/notesMaster1.xml" Id="Rd30dc1a4245c4e26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a2d41b0ba0eb4543"/><Relationship Type="http://schemas.openxmlformats.org/officeDocument/2006/relationships/notesMaster" Target="/ppt/notesMasters/notesMaster1.xml" Id="R7bc95da51a464f5c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513016985d9240ce"/><Relationship Type="http://schemas.openxmlformats.org/officeDocument/2006/relationships/notesMaster" Target="/ppt/notesMasters/notesMaster1.xml" Id="R807f45c31fa84ccd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e41434f30f4c4b25"/><Relationship Type="http://schemas.openxmlformats.org/officeDocument/2006/relationships/notesMaster" Target="/ppt/notesMasters/notesMaster1.xml" Id="R5d4c70480cb54ada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9c86b2a20cd8430c"/><Relationship Type="http://schemas.openxmlformats.org/officeDocument/2006/relationships/notesMaster" Target="/ppt/notesMasters/notesMaster1.xml" Id="R92b8f6c9c7504694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5cd3bab9e39d4f59"/><Relationship Type="http://schemas.openxmlformats.org/officeDocument/2006/relationships/notesMaster" Target="/ppt/notesMasters/notesMaster1.xml" Id="Rab0d41eec14f4854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0cd5e63977be440b"/><Relationship Type="http://schemas.openxmlformats.org/officeDocument/2006/relationships/notesMaster" Target="/ppt/notesMasters/notesMaster1.xml" Id="R8acd462e5e184715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7a70fd9868284236"/><Relationship Type="http://schemas.openxmlformats.org/officeDocument/2006/relationships/notesMaster" Target="/ppt/notesMasters/notesMaster1.xml" Id="Ra89731bda0954cdf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2ee7f302bc54bc4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d8fda9394bea424b"/><Relationship Type="http://schemas.openxmlformats.org/officeDocument/2006/relationships/slideLayout" Target="/ppt/slideLayouts/slideLayout2.xml" Id="Rdab24d9418a8446c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b24d9418a844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4e2394140de54c6f"/><Relationship Type="http://schemas.openxmlformats.org/officeDocument/2006/relationships/image" Target="/ppt/media/image.png" Id="Ra78bbad5e9434c89"/><Relationship Type="http://schemas.openxmlformats.org/officeDocument/2006/relationships/notesSlide" Target="/ppt/notesSlides/notesSlide1.xml" Id="Rd3e95bb6c3f84113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578ebcba4bc349d0"/><Relationship Type="http://schemas.openxmlformats.org/officeDocument/2006/relationships/image" Target="/ppt/media/image2.png" Id="R35db2250d4924f8b"/><Relationship Type="http://schemas.openxmlformats.org/officeDocument/2006/relationships/notesSlide" Target="/ppt/notesSlides/notesSlide2.xml" Id="R47fce4182fe549b4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4fff150094684ef3"/><Relationship Type="http://schemas.openxmlformats.org/officeDocument/2006/relationships/image" Target="/ppt/media/image3.png" Id="R39e2b6caf7554ee9"/><Relationship Type="http://schemas.openxmlformats.org/officeDocument/2006/relationships/image" Target="/ppt/media/image4.png" Id="R288274f29c544be1"/><Relationship Type="http://schemas.openxmlformats.org/officeDocument/2006/relationships/notesSlide" Target="/ppt/notesSlides/notesSlide3.xml" Id="R3c8b507577c94aca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c7cf8d6ff1f74b16"/><Relationship Type="http://schemas.openxmlformats.org/officeDocument/2006/relationships/image" Target="/ppt/media/image5.png" Id="R3ff7f276d4f54fd5"/><Relationship Type="http://schemas.openxmlformats.org/officeDocument/2006/relationships/notesSlide" Target="/ppt/notesSlides/notesSlide4.xml" Id="Re0b1eb0ca6154fb9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328ac08d182846a1"/><Relationship Type="http://schemas.openxmlformats.org/officeDocument/2006/relationships/image" Target="/ppt/media/image6.png" Id="R66a5c7cb23144f24"/><Relationship Type="http://schemas.openxmlformats.org/officeDocument/2006/relationships/notesSlide" Target="/ppt/notesSlides/notesSlide5.xml" Id="Rb7781fc02e5e40b2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70f251de8d8e40b5"/><Relationship Type="http://schemas.openxmlformats.org/officeDocument/2006/relationships/image" Target="/ppt/media/image7.png" Id="R4a3b7df40af440d8"/><Relationship Type="http://schemas.openxmlformats.org/officeDocument/2006/relationships/notesSlide" Target="/ppt/notesSlides/notesSlide6.xml" Id="Rd4926dda61204561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efe8dec56b5f416b"/><Relationship Type="http://schemas.openxmlformats.org/officeDocument/2006/relationships/image" Target="/ppt/media/image8.png" Id="R97e623291df14873"/><Relationship Type="http://schemas.openxmlformats.org/officeDocument/2006/relationships/notesSlide" Target="/ppt/notesSlides/notesSlide7.xml" Id="Rde62cc5dd1924c10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9c2afb0572174177"/><Relationship Type="http://schemas.openxmlformats.org/officeDocument/2006/relationships/image" Target="/ppt/media/image9.png" Id="R9e69becd651c42c1"/><Relationship Type="http://schemas.openxmlformats.org/officeDocument/2006/relationships/notesSlide" Target="/ppt/notesSlides/notesSlide8.xml" Id="Rd097319780bd415b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8b22df17e1094d97"/><Relationship Type="http://schemas.openxmlformats.org/officeDocument/2006/relationships/image" Target="/ppt/media/image10.png" Id="R602f1feceed84b33"/><Relationship Type="http://schemas.openxmlformats.org/officeDocument/2006/relationships/notesSlide" Target="/ppt/notesSlides/notesSlide9.xml" Id="R33230c674b1c4a45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38f63d728e4d4595"/><Relationship Type="http://schemas.openxmlformats.org/officeDocument/2006/relationships/image" Target="/ppt/media/image11.png" Id="R1ea5b1fe631243c3"/><Relationship Type="http://schemas.openxmlformats.org/officeDocument/2006/relationships/notesSlide" Target="/ppt/notesSlides/notesSlide10.xml" Id="Rd44f5858e5d34f0b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07da9604c30841d3"/><Relationship Type="http://schemas.openxmlformats.org/officeDocument/2006/relationships/image" Target="/ppt/media/image12.png" Id="Rb30746abb89141ab"/><Relationship Type="http://schemas.openxmlformats.org/officeDocument/2006/relationships/notesSlide" Target="/ppt/notesSlides/notesSlide11.xml" Id="R563431085e1f4750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7d14fa7854aa4d33"/><Relationship Type="http://schemas.openxmlformats.org/officeDocument/2006/relationships/image" Target="/ppt/media/image13.png" Id="Rf6fe869688fb47d3"/><Relationship Type="http://schemas.openxmlformats.org/officeDocument/2006/relationships/notesSlide" Target="/ppt/notesSlides/notesSlide12.xml" Id="R3995b1be0f384038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b3188c0f62b4488a"/><Relationship Type="http://schemas.openxmlformats.org/officeDocument/2006/relationships/image" Target="/ppt/media/image14.png" Id="R773cc57459cd4054"/><Relationship Type="http://schemas.openxmlformats.org/officeDocument/2006/relationships/image" Target="/ppt/media/image.jpeg" Id="R56286dbaf5a74ac5"/><Relationship Type="http://schemas.openxmlformats.org/officeDocument/2006/relationships/notesSlide" Target="/ppt/notesSlides/notesSlide13.xml" Id="R293176bf2a694501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78B5AD1F-9A8E-4FA7-8BE0-D9BE2C7F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1DB29-87D7-441B-9590-323928F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3276600" cy="327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CDAB2-F724-4AB2-BBF2-8EECACAE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04850"/>
            <a:ext cx="2438400" cy="2438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bbad5e9434c89"/>
          <a:stretch xmlns:a="http://schemas.openxmlformats.org/drawingml/2006/main"/>
        </p:blipFill>
        <p:spPr>
          <a:xfrm xmlns:a="http://schemas.openxmlformats.org/drawingml/2006/main">
            <a:off x="666750" y="5905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5BC54-B45A-4579-8B56-68B51FA2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6F9DF-FC3B-4CCC-B389-451841B1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4D75C-6255-4481-B9F6-4F771C62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AKADEMIE-VORLESUNG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A576F-77AD-4D0B-959C-B40D6CBA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Titel der Vorlesung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483A4-4409-4ED4-8669-47FFD43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Untertitel oder Leitthese in einem ruhigen, präzisen Satz.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AF9F9-AE01-4F15-A728-E95AF592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B5846-9836-4610-AED1-65F76CDC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Modul 01 | Datum | Dozent:in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76552-376A-4154-9CF5-BAA47E5E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52850"/>
            <a:ext cx="3333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F1792-5AD9-4245-B16B-7F174B8E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 statt Kapital.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20DD5-0842-47C4-9897-E191E24E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Für Mensch, Planet und Demokratie.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6A306-DC02-4828-82E8-932E6B5C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60C7A-3C7E-4965-A787-BCA7E921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01 / 13</a:t>
            </a:r>
          </a:p>
        </p:txBody>
      </p:sp>
    </p:spTree>
    <p:extLst>
      <p:ext uri="{BB962C8B-B14F-4D97-AF65-F5344CB8AC3E}">
        <p14:creationId xmlns:p14="http://schemas.microsoft.com/office/powerpoint/2010/main" val="12881499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4E2F66E9-3F91-4E43-8222-439C7050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b2250d4924f8b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98E66-E5E2-40FA-8232-FC94F104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3684A-3C50-4077-8299-5A5D9AFC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65A0F-0026-4D57-9987-7EDEE86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MASTER-LOGIK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78F4A-DEB8-4099-ADDA-9EAD0712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Layoutbibliothek für Vorlesungen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EA3CC-17D0-4E60-AEB0-801722AA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Diese Folien sind als wiederverwendbare Master-Slides angelegt: kopieren, Inhalte ersetzen, Farben und Abstände beibehalten.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488BC-FC28-4490-BC73-198C3573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A0003-2A1C-43E3-ADEF-5AFD1EA8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02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AE1C6-6C0F-4C3B-8FF7-C241BF7C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57C96-02AF-49CA-A6F8-D4E598ED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B34FE-BAAF-4769-B89C-D038B94B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87FAB-7E0F-42C5-A56A-CD61508A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A9AC5-137C-4293-9346-0C4ABCBE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53C86-3C1F-4221-803A-B597074B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B655D-2445-4125-80BC-FF49B732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00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Kapiteltrenner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807E1-B738-4F49-B9C6-280CB134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6E0FD-F29F-41EF-BBEE-2457A581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289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B209E-2B2C-4E33-A243-50B95EA0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D1214-A795-4940-8EB3-AC7E3B9B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Agenda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77C5F-69BD-4066-9E1C-0B30FA15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C15D3-E42F-4E15-BE08-A7709DEE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AF8B4-340F-417F-8633-AD4D8F62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0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4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44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2921F-40DF-4762-B498-78CFC3AD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00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Konzept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58507-8136-42DD-9F0E-C8F71341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433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40"/>
          </a:solidFill>
          <a:ln xmlns:a="http://schemas.openxmlformats.org/drawingml/2006/main" w="0">
            <a:solidFill>
              <a:srgbClr val="1A24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4C64E3-8E28-493B-848C-C61B314F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017618-392D-498D-9642-B3D5B612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E01A2B-1A55-457D-9A17-2C1803D7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Modell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6784AA-13E0-4AE7-A892-5BF89BA8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0D7E3-5C67-4E6E-A4D0-A746932E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719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8B11AD-2474-4D9C-A48F-E014A8C6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4D6EB3-E99F-4E9D-8854-448E9AE9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43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Vergleich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CBC7A1-DF3D-417A-9309-C8006A1D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A33E65-7629-4122-A0EF-CFDF179F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719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80479D-4B9D-4DF1-A105-FDD63B42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E70827-5958-4613-892C-112272C0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Datenchart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3F03E8-0585-4BE2-A3B5-1AB348F0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E3A389-0A3D-43DC-8199-70D8378B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719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01186B-2C94-45E2-BE72-68D9D9AD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43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4D195B-E40B-4512-A980-FF50545F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43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Quelle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16F872-202D-49B0-90EC-67FF0F90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655B"/>
          </a:solidFill>
          <a:ln xmlns:a="http://schemas.openxmlformats.org/drawingml/2006/main" w="0">
            <a:solidFill>
              <a:srgbClr val="6C65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6093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410F078B-1E21-476A-ADA9-E5C382AE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2b6caf7554ee9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640CC-9544-4292-9552-F5FB9426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3A5F2-6229-4401-A8FF-61698325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3B5B3-30E0-4D13-A8CA-27789DE1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BRAND-SYSTEM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D92B5-55B8-49F4-A9DA-C049668B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Ruhig, institutionell, systemisch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BF114-2399-449B-987B-25D40BF3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Palette, Typografie und Logo-Anwendung sind auf Vortragssituationen ausgelegt: gut lesbar, nicht dekorativ, mit klarer Argumentationsführung.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1FD9D-1EBB-4B98-B06F-281B9C1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E4BA5-38A4-41C7-8D64-B61533A3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03 / 13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274f29c544be1"/>
          <a:stretch xmlns:a="http://schemas.openxmlformats.org/drawingml/2006/main"/>
        </p:blipFill>
        <p:spPr>
          <a:xfrm xmlns:a="http://schemas.openxmlformats.org/drawingml/2006/main">
            <a:off x="971550" y="29527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50832-99F3-46DF-8663-749377A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57550"/>
            <a:ext cx="3314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0BE06-4888-43CE-8C5D-46D0E1E0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Headlines: Georgia / Source Serif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EFC97-D54D-4437-90F8-CE3F881B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Body, Tabellen, Fußnoten: Aptos / Inter. Keine Marketingfloskeln. Titel sind als These formuliert.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F6385-BE18-4ADD-90A4-E88781F7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8CE73-8DC7-4957-90FE-ADF56CED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480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Navy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66749-9CA6-45CC-BD7D-441DE877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195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#0B1020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2F990-B7FB-4EFD-BAC8-F27E4470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0">
            <a:solidFill>
              <a:srgbClr val="EFE7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40597-E0DE-4536-AA42-09FCF2D3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Ivory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611C5-DB0D-4E5F-8DDD-BF2A501B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195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#EFE7D9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82FAF-1B2A-4703-A229-9181F2EA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5275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40902-0744-4E63-8141-7B765C65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5AFC6-FDE7-48AF-AE04-481EAAE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195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#2F7D5C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25B79-84F3-4663-89A3-EE7711A0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767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B55B6-8332-499E-B847-B5568C4A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720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0C936-3DAF-4CAB-A46A-629FBB79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434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#C89B3C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42086E-A9BC-4A18-9B3B-9674F8C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767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6FDAF-6AC7-40BA-8E9F-6695892C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720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Coral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2CEF3-F14F-4DDA-AB52-6A5378FC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434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#C85A4A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FD70C-5702-4072-BFBC-F921EC2C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767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F0E21C-34AA-42C6-BCC6-AF69C9F7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720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D546E-5D93-43D2-9EDF-2132B0F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434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#222222</a:t>
            </a:r>
          </a:p>
        </p:txBody>
      </p:sp>
    </p:spTree>
    <p:extLst>
      <p:ext uri="{BB962C8B-B14F-4D97-AF65-F5344CB8AC3E}">
        <p14:creationId xmlns:p14="http://schemas.microsoft.com/office/powerpoint/2010/main" val="3218286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BD60E9FA-3445-437B-A54F-99AA9BC7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7f276d4f54fd5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5E050-1452-4992-8820-F05CECBE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F456A-4622-4C6D-8399-13C0B6BE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TEIL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71516-31E8-4613-BE92-9F9233DD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Kapitel oder</a:t>
            </a:r>
          </a:p>
          <a:p xmlns:a="http://schemas.openxmlformats.org/drawingml/2006/main">
            <a:pPr algn="l">
              <a:defRPr sz="33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Modulüberschrift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B40AA-A1F3-47BD-98A8-4C987165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Ein Satz, der den Erkenntnisschritt des Kapitels markiert.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58A55-6D13-4881-9C6A-4A51DA1B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85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40C6B-AAB4-4383-9FA9-39DE4D53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066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Grundlagen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DBE50-5DF5-46CC-9E7D-85E69068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7D3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F1C4C-6564-4A04-A5C3-EE4D119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81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Modell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7687F-8FD8-499C-B535-B60F615E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7D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DF760-707F-409D-93DD-6AB7B247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Instrumente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7BC19-654F-4AD6-974B-B6C85093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7D3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2DCF9-5599-43D1-ADFD-61029C7B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Anwendung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F92D0-2741-420F-97F7-D6DEB87B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57300"/>
            <a:ext cx="19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A"/>
          </a:solidFill>
          <a:ln xmlns:a="http://schemas.openxmlformats.org/drawingml/2006/main" w="0">
            <a:solidFill>
              <a:srgbClr val="D7D3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73CA0-362A-4756-B714-E2FD8EFF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7D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21BDC-7024-42B8-9FBB-337659A9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C8817-A083-42FF-8E34-DF8BAE7C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956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6F1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E07C9-E4E2-40B7-946A-F14884DF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816D5-7E36-4DB3-A62A-568F32C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04 / 13</a:t>
            </a:r>
          </a:p>
        </p:txBody>
      </p:sp>
    </p:spTree>
    <p:extLst>
      <p:ext uri="{BB962C8B-B14F-4D97-AF65-F5344CB8AC3E}">
        <p14:creationId xmlns:p14="http://schemas.microsoft.com/office/powerpoint/2010/main" val="19138145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6D26B13F-FF77-4D21-83B2-50BF6B3F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5c7cb23144f24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6BC6B-CF7D-4CEA-9884-75C2F61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F7E3-1335-4391-8C8A-3CFD8ECF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34F74-2020-401A-92B4-581F2E85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VORLESUNGSBOGEN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92440-E376-4DB3-BFC9-B0DB727E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Drei Schritte durch die Vorlesung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51AA5-821D-465D-AC2C-2C41FB11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Nutze diese Folie als Agenda oder als wiederkehrende Orientierung innerhalb einer 45- bis 90-minütigen Einheit.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FCAE7-4483-455B-9944-8B09E15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9ECE6-01E6-44BB-B9EE-D62C1EB3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05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892B-990F-449A-8B44-0F47AD8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5B6ED-ADA6-49EB-998F-5805D786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40BB2-D9FF-4B1A-8A21-938B3E1A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90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Begriff klären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9C7D5-8D56-4BB9-A1DB-E388E87A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Was wird behauptet, gemessen oder bewertet?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7888A-6548-4D70-8A35-BC35F5C4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D4419-3A33-4076-A276-1824A517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CC76C-7252-4BE5-BED4-AB60FDDA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System zeigen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FE8DD-5A24-4A36-9471-3FE975B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Zustände, Wechselwirkungen und Grenzen sind relevant?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DE5DD-B429-47F0-A54D-0BB60D28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8CBA4-F4FF-4940-B162-50F01E9E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9B22E-B6F7-4E22-A0E8-924E5CFE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90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Anwendung prüfen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635AF-9243-4D2E-968E-FB697301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Entscheidung würde sich durch Wirkung verändern?</a:t>
            </a:r>
          </a:p>
        </p:txBody>
      </p:sp>
    </p:spTree>
    <p:extLst>
      <p:ext uri="{BB962C8B-B14F-4D97-AF65-F5344CB8AC3E}">
        <p14:creationId xmlns:p14="http://schemas.microsoft.com/office/powerpoint/2010/main" val="20895616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751DF02F-D683-48E0-8276-135EFEF7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b7df40af440d8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47C3A-6CDD-426C-93FB-66C4BF5A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2E3AB-35AC-48D2-A851-A5F9349D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E6F6B-E9E8-4934-A0B1-A57C9EC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KONZEPTFOLIE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448F7-0209-487C-9C1E-3660679F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Eine starke These trägt die Folie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34E16-E343-4C0E-A1E5-3B525C4C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Für Definitionen, zentrale Argumente oder neue Begriffe. Links die Aussage, rechts die Einordnung.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158BB-36B2-4669-9620-F6BF3E8F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AE94B-A50B-40EF-82B2-0ED744E6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06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9B634-4B5B-4A1C-8B96-F35D4425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 bleibt Werkzeug. Wirkung wird Kompass.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E34BD-DD9C-43CC-B7D5-6C7265E2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E49DA-9B87-4063-995D-2062707B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43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Ersetze diesen Satz durch die zentrale Vorlesungsthese. Maximal zwei Zeilen, keine weichen Füllwörter.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53610-99EC-4C10-A360-F422FC94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1874A-F06F-4C62-8189-22B46C9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43250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Begriff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DC402-AEF1-4208-8CAC-6BA4925F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Kurze Definition oder Abgrenzung.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9D65C-F517-432C-80EE-283C0179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361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0F5C7-E71D-450E-940D-E0C7B0CE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Warum es zählt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2BF09-D614-406F-A665-CAAABD2B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76750"/>
            <a:ext cx="327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Was verändert sich für Märkte, Politik, Unternehmen oder Öffentlichkeit?</a:t>
            </a:r>
          </a:p>
        </p:txBody>
      </p:sp>
    </p:spTree>
    <p:extLst>
      <p:ext uri="{BB962C8B-B14F-4D97-AF65-F5344CB8AC3E}">
        <p14:creationId xmlns:p14="http://schemas.microsoft.com/office/powerpoint/2010/main" val="4591641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D2F05840-9980-4A79-890B-2412DF97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623291df14873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397CD-4A70-43E1-9C6B-B9ADA1DB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97EEE-1445-4CA2-9556-177EB6D7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14B44-E3E2-4A52-986C-25B818FF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MODELLFOLIE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6D21E-B8A2-4FCE-ACF2-0EBCAC27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Mensch, Planet, Demokratie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7A751-C5D0-4F05-8402-B675E129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Diese Folie ist für Grundmodelle, Systemgrenzen und normative Orientierungspunkte gedacht.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214C7-052B-4D95-8D10-DF2BDB0F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65F18-E371-4BBD-A35F-CF3B5C4E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07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14F04-EA36-4770-8ECD-E37B1006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384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B10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416C1-ED94-4405-8DCA-2566C6BA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00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7D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78788-7704-43B4-8A20-A3CD1D88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00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081DE-5A2F-4730-94DD-57B6669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81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753F4-53B9-4C90-9D9D-F4572F6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WIRKUNG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DFCBB-208A-4065-8EE8-BAC4081E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528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Mensch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CD55F-40CD-4762-94A0-E46A1BE8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196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Planet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F94B7-139D-4EF8-85E3-7F01CEF0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196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Demokratie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BAC80-D97F-4202-9DC4-4490F921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70AF5-F32D-4606-8D82-289D91C7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Leitfrage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FF328-9ACA-48A5-A4A0-58FD7B35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Zustandsveraenderung entsteht und fuer wen?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295F5-B353-4A39-90BE-DAC67066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4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F24C1-BD48-4546-9C64-C3D25F62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Anwendung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1C60E-A638-4505-AA9E-60AAC0CE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Entscheidung wird durch diese Orientierung anders?</a:t>
            </a:r>
          </a:p>
        </p:txBody>
      </p:sp>
    </p:spTree>
    <p:extLst>
      <p:ext uri="{BB962C8B-B14F-4D97-AF65-F5344CB8AC3E}">
        <p14:creationId xmlns:p14="http://schemas.microsoft.com/office/powerpoint/2010/main" val="9195612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A8573163-B0EC-4C54-AA1F-EC304AA6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9becd651c42c1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5ABAE-85FA-4A57-BAD9-AC955E21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DC94F-621B-4801-B450-2BE4553E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20C9C-6B34-44D6-919B-BAE44C0F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RÜCKKOPPLUNG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BF3EB-4C3D-4967-876C-073B939C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 ist kein linearer Zielpfad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94236-1A9C-4FBD-8B44-F466A78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Für Prozessarchitekturen, Lernschleifen und Governance-Logiken.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E2887-70D0-48E0-835C-80FCBF73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8A240-4A83-4F20-A287-56E84AB3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08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4156E-13CA-48A4-9B15-92538024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A2AFA-3BF8-4DFE-9356-5294AB04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2E80E-6722-45CF-B50B-FD305CD7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Erfassen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4F55C-E5AB-4B34-BE86-A9CA9764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33825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81C1A-E8AC-4AFC-9B93-F076ADF0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B01E3-9C53-46FB-BA0C-0F07BE5A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B350B-27F9-4FB2-8DA4-359AC51F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433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A82DF-7945-43A7-AD77-4425414C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57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Bewerten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148D9-0BC6-4090-9709-7118A99B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33825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5C2C0-0C10-4DD8-9BFA-686BC35F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100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57E39-4F76-4AD4-A488-8E5F51B1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F2B25-626A-4E8A-8FB3-EF94F926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433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FF3EF-F0E7-45E7-9BA1-7CAF1F8A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57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Entscheiden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92B43-E59D-4B4A-87F3-6DB952A7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33825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11A04-1D14-4C89-A160-25E87F62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FDA33-5003-41C6-A5AD-EBA10743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23089-6C79-45EA-BE85-5A03BC27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433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1298D7-9798-4B5A-B363-64D649C7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577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Lernen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BDFC2-056E-4704-9831-CFA48251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57800"/>
            <a:ext cx="466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08DCC9-A480-4123-9348-1157B797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53050"/>
            <a:ext cx="417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Rückkopplung: Ergebnisse verändern Annahmen, Kriterien und nächste Entscheidungen.</a:t>
            </a:r>
          </a:p>
        </p:txBody>
      </p:sp>
    </p:spTree>
    <p:extLst>
      <p:ext uri="{BB962C8B-B14F-4D97-AF65-F5344CB8AC3E}">
        <p14:creationId xmlns:p14="http://schemas.microsoft.com/office/powerpoint/2010/main" val="17175112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BA519B90-D0C0-405A-A2BF-7724054A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f1feceed84b33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B190B-ED23-4998-A6BD-6F4661D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53B6E-FD9D-4E17-B927-9EE1F889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AE377-B06A-4C0C-8FBF-269220C6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VERGLEICH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35012-0FF0-4175-B259-B9E9B3D3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Abgrenzung wird als Matrix lesbar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C9F1C-C442-4A3B-865F-90B804FD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Für Gegenüberstellungen: klassische Ökonomie, ESG, Impact, Wirkungsökonomie.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197CF-121F-4C4B-8933-BFDB85EA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B2F6E-7D0D-45FE-AC5E-4DB13C02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09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87322-317D-4FB8-9B6C-E87EA01D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1281B-70BF-4323-9010-50337802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Kategorie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9579A-226B-47A6-9735-EF5D1456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12A0E-E5C3-462F-BAE7-CE5D52A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Kapital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9AB82-4082-44F1-B4E8-AE056296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05565-DE2A-4B3C-9CD1-13192AD2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76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ESG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C2499-CBAE-437C-9093-EF02E99D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60201-5508-436A-8B38-E59D4AA1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Wirkung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28C63-33A4-481F-9327-EBEA5509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B8CBD-B630-4217-AA21-14E84588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Maßstab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B5A3E-A64F-4C9F-8B74-614E3DFC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814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24C5E-3890-492C-90E6-1BC8919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719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Rendite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B49B5-1F20-4933-8DA1-B64DBDDC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33977-C05C-4DA3-AF87-DCE1B735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719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Risiko / Bericht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64162-1DBA-49F4-ADC0-37E5B64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F0705-D73D-4F9F-8D33-4ACDF308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Zustandsveraenderung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E410F-31B3-4394-85C6-30C76A78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AE107-2C44-44E9-8F4F-BC3FD546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Rolle Kapital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DB3F63-F0E6-4EDA-B5F4-2A6F7227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3385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E33415-EE48-493A-BCC1-1BEC4D7B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24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Ziel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DDD2C0-27B0-4DEC-9DF0-59AB7EA7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3385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6358F8-D177-454F-A44D-5B8826EE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24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Bedingung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8FF22-8956-45A6-AA69-D2ED74F4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3385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526FCC-21D0-4742-AC7C-5111908B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Werkzeug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C37E8A-6F18-48F7-A06E-10D5639B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97FF4C-6887-4A1F-83E1-728E9B2C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Steuerung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F5C4D8-B873-4B15-A935-BF861124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863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6DDF97-2ECF-4B01-B5C1-3D182F0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76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4DA341-E26F-4E41-8065-C28881E0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863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6E1260-D478-409D-9DA4-EF50A456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76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DD5156-F9FD-4783-BF52-200B328C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B7E5EA-9210-4E74-BB9B-C625310A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76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Kompass</a:t>
            </a:r>
          </a:p>
        </p:txBody>
      </p:sp>
    </p:spTree>
    <p:extLst>
      <p:ext uri="{BB962C8B-B14F-4D97-AF65-F5344CB8AC3E}">
        <p14:creationId xmlns:p14="http://schemas.microsoft.com/office/powerpoint/2010/main" val="4683728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1DCDE59B-8B2E-494B-B690-459DAC93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5b1fe631243c3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64D1A-08C7-4AB3-B1D7-1A703CEA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52FE8-DC55-4DDD-946F-069E69A2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189CF-9C0D-4835-8961-E1F0AA98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DATENFOLIE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86ED7-A12E-463F-8735-4831385A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Charts beweisen genau eine Aussage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18534-1345-4164-8881-182E4E99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Für Umfragen, Wirkungsprofile, Scorecards oder Vorher-Nachher-Vergleiche. Direkt beschriften statt Legenden verstecken.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103C-0883-48B8-BE7B-E7CC2F5A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86749-892F-43F5-BA4A-8CAD82EC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10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3A1C5-8D05-4EE0-8D93-FBFB945A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Beispiel: Wirkungsprofil nach Bewertungsdimension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573A5-BEFC-4366-A423-3538D0A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0">
            <a:solidFill>
              <a:srgbClr val="EFE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BB08B-3920-441F-977D-0447966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84251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70109-2351-4187-92E8-43FD41E8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Gesellschaftlicher Nutzen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9079F-0104-4FDA-8463-29B2B7C8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337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82%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E3870-65E2-4BA2-A3FC-54370890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0">
            <a:solidFill>
              <a:srgbClr val="EFE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F764F-2334-45C1-91E5-5114139F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37795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66A53-DE37-430A-A6C2-06FB4CDE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Demokratische Anschlussfaehigkeit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4A122-5C34-4504-A2DB-72295079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005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64%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72C4A-2F7D-4226-AC5F-A82DAAA3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0">
            <a:solidFill>
              <a:srgbClr val="EFE7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4050D-12C1-462E-96B7-4C5D660B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22440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B4B19-28CC-4027-BBCE-611E091D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Transformationsrisiko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6FF64-7C95-4BB9-90CE-A9137039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672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38%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6F3A0-06DB-46EF-89EE-7233E536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2343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A9675-F6A5-47F6-AB5D-FE68574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Leseregel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9D5A7F-ECCB-4833-8060-0C90A1B4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Wenige Farben. Eine Achse. Keine Legende, wenn direkte Labels möglich sind.</a:t>
            </a:r>
          </a:p>
        </p:txBody>
      </p:sp>
    </p:spTree>
    <p:extLst>
      <p:ext uri="{BB962C8B-B14F-4D97-AF65-F5344CB8AC3E}">
        <p14:creationId xmlns:p14="http://schemas.microsoft.com/office/powerpoint/2010/main" val="17490504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9294997C-B7DF-46E7-9899-A24FF68C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746abb89141ab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B556-F63C-415A-8E7E-5FF4C059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241F2-A8C2-48E9-B2BD-491A5E27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755BF-8177-4853-B19E-6F04869E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FALLSTUDIE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962BA-D6B8-4461-8340-B1648C4B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Kontext, Entscheidung, Wirkung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EB6CE-7234-4047-9760-E29E0483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Für Praxisbeispiele aus Staat, Markt, Kommune, Unternehmen, Medien oder Bildung.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43FB6-D6B5-4012-8D47-11B836D5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6FFD2-8158-4502-AEF6-0E2BBE4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11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41BFC-9477-4E55-BB9C-3EC81A01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25D8E-6977-4870-BCFF-171FE07A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Ausgangslage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4F982-B7E2-4987-B63B-C7FF0892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514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Entscheidung steht an? Welche heutige Logik dominiert?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2CEF6-9668-4F88-B41B-7029C8AF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0990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1CFE9-57A5-4133-8F7A-2EBE9A06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Wirkungslogik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F7623-DDE2-46FD-8D76-0FDA97F7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6150"/>
            <a:ext cx="2514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Zustände werden sichtbar, die vorher verdeckt blieben?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4F318-FB6E-4E35-9C2A-0FDD43F8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0990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4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7AB49-E00A-4FDB-BE6D-CD97952A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623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Konsequenz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FA919-5015-412B-B165-C83D58AD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86150"/>
            <a:ext cx="2514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Was ändert sich in Steuerung, Kapitalallokation oder Verantwortung?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FD67F-1C82-4FE6-B6B6-1E3D0F59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950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Optional: kurzer Quellhinweis oder Diskussionsfrage</a:t>
            </a:r>
          </a:p>
        </p:txBody>
      </p:sp>
    </p:spTree>
    <p:extLst>
      <p:ext uri="{BB962C8B-B14F-4D97-AF65-F5344CB8AC3E}">
        <p14:creationId xmlns:p14="http://schemas.microsoft.com/office/powerpoint/2010/main" val="11871953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D4A7EC36-7268-4F82-BE40-FABA1E58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e869688fb47d3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B3E5F-2DF9-4622-A63C-73BC4D94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95B70-75CC-4FD5-A2B6-8DEFC737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000F0-418E-481C-A977-48400394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ZITAT / KERNGEDANKE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77B11-62E5-484D-8993-34D299D9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Ein Gedanke pro Folie.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2D51D-BC9F-479C-864D-CD210224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Für Übergänge, Pausen, Zusammenfassungen oder Diskussionseinstiege.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A5DE0-2D87-4EBE-B9D5-75C8E899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0E1A7-7CA7-4FD4-A2A4-E5A28165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12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0539F-48FB-4E2F-8291-DAD9E01E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8058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„Wohlstand entsteht nicht durch Geldbewegung, sondern durch positive Zustandsveraenderung.“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CBEC0-B6AB-4637-802F-CFBB19D4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529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81E77-B1D8-423D-8D25-BDC1CD66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768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Quelle oder Kontext</a:t>
            </a:r>
          </a:p>
        </p:txBody>
      </p:sp>
    </p:spTree>
    <p:extLst>
      <p:ext uri="{BB962C8B-B14F-4D97-AF65-F5344CB8AC3E}">
        <p14:creationId xmlns:p14="http://schemas.microsoft.com/office/powerpoint/2010/main" val="15999447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007B4962-E5AC-4A64-8DF5-2BDA8CF6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cc57459cd4054"/>
          <a:stretch xmlns:a="http://schemas.openxmlformats.org/drawingml/2006/main"/>
        </p:blipFill>
        <p:spPr>
          <a:xfrm xmlns:a="http://schemas.openxmlformats.org/drawingml/2006/main">
            <a:off x="51435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B25EC-B7E6-4996-8BB9-E83E45F3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260DD-5CD1-4F47-837C-071B6FC7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1595B-3124-43FE-AB09-042BE9E8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QUELLEN / 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1A2A6-EACD-4DA4-B9AB-C1E81E3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Belege bleiben ruhig sichtbar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E064C-72F9-4203-9F4D-77DE771E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Nutze diese Folie für Literatur, Datenquellen, weiterführende Dokumente oder einen kompakten Abschluss.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01EF0-925C-4389-9A86-677AB56C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Wirkungsökonomie Akademie | Master-Template | Stand 2026-05-29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43E25-0F6D-4E3B-8BE2-725A8EB1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13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4A608-BED1-4C48-AB34-5D256099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49530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9B9D3-D7DF-492D-A5A1-DAAF16B4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Quellen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80C8A-FACB-4CC1-AB91-2C6FCF2D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1. Grundlagenwerk / Kapitel</a:t>
            </a:r>
          </a:p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2. Brand Guide Wirkungsökonomie</a:t>
            </a:r>
          </a:p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3. Datenquelle oder Dokument</a:t>
            </a:r>
          </a:p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4. Weiterführende Akademie-Materialien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5C8EC-A839-4C2E-B78C-E26453C3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30861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86dbaf5a74ac5"/>
          <a:stretch xmlns:a="http://schemas.openxmlformats.org/drawingml/2006/main"/>
        </p:blipFill>
        <p:spPr>
          <a:xfrm xmlns:a="http://schemas.openxmlformats.org/drawingml/2006/main">
            <a:off x="7512050" y="3028950"/>
            <a:ext cx="1397000" cy="2095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7834C-03A9-4851-8910-6432D95B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006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Referenz: angefügtes Brand-Guide</a:t>
            </a:r>
          </a:p>
        </p:txBody>
      </p:sp>
    </p:spTree>
    <p:extLst>
      <p:ext uri="{BB962C8B-B14F-4D97-AF65-F5344CB8AC3E}">
        <p14:creationId xmlns:p14="http://schemas.microsoft.com/office/powerpoint/2010/main" val="1822949335"/>
      </p:ext>
    </p:extLst>
  </p:cSld>
</p:sld>
</file>

<file path=ppt/theme/theme1.xml><?xml version="1.0" encoding="utf-8"?>
<a:theme xmlns:a="http://schemas.openxmlformats.org/drawingml/2006/main" name="Wirkungsoekonomie">
  <a:themeElements>
    <a:clrScheme name="Wirkungsoekonomi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irkungsoekonomi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Natalie Weber</dc:creator>
  <lastModifiedBy>Natalie Weber</lastModifiedBy>
  <dc:title>Presentation</dc:title>
  <dcterms:created xsi:type="dcterms:W3CDTF">2026-05-29T06:19:19.9100000Z</dcterms:created>
  <dcterms:modified xsi:type="dcterms:W3CDTF">2026-05-29T06:19:19.9100000Z</dcterms:modified>
</coreProperties>
</file>