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cfa532cd1d3454f"/><Relationship Type="http://schemas.openxmlformats.org/officeDocument/2006/relationships/extended-properties" Target="/docProps/app.xml" Id="R7016360557d84340"/><Relationship Type="http://schemas.openxmlformats.org/officeDocument/2006/relationships/officeDocument" Target="/ppt/presentation.xml" Id="R9f2d8f5505f84dad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5e6f42bbb4863"/>
  </p:sldMasterIdLst>
  <p:notesMasterIdLst>
    <p:notesMasterId xmlns:r="http://schemas.openxmlformats.org/officeDocument/2006/relationships" r:id="R43720b17efa149e7"/>
  </p:notesMasterIdLst>
  <p:sldIdLst>
    <p:sldId xmlns:r="http://schemas.openxmlformats.org/officeDocument/2006/relationships" id="256" r:id="R08ac93b14ae94faa"/>
    <p:sldId xmlns:r="http://schemas.openxmlformats.org/officeDocument/2006/relationships" id="257" r:id="R2e50d252e0ec420d"/>
    <p:sldId xmlns:r="http://schemas.openxmlformats.org/officeDocument/2006/relationships" id="258" r:id="Rc373e0e01bbf4113"/>
    <p:sldId xmlns:r="http://schemas.openxmlformats.org/officeDocument/2006/relationships" id="259" r:id="Rb81735a42a6f4fea"/>
    <p:sldId xmlns:r="http://schemas.openxmlformats.org/officeDocument/2006/relationships" id="260" r:id="R407f82767c3348f3"/>
    <p:sldId xmlns:r="http://schemas.openxmlformats.org/officeDocument/2006/relationships" id="261" r:id="Re28eb1f5c3414941"/>
    <p:sldId xmlns:r="http://schemas.openxmlformats.org/officeDocument/2006/relationships" id="262" r:id="Rd62a83f6891840c2"/>
    <p:sldId xmlns:r="http://schemas.openxmlformats.org/officeDocument/2006/relationships" id="263" r:id="R07153838fea74a7d"/>
    <p:sldId xmlns:r="http://schemas.openxmlformats.org/officeDocument/2006/relationships" id="264" r:id="R47dc70ebdc0b49e3"/>
    <p:sldId xmlns:r="http://schemas.openxmlformats.org/officeDocument/2006/relationships" id="265" r:id="R7e0c12ec5d914057"/>
    <p:sldId xmlns:r="http://schemas.openxmlformats.org/officeDocument/2006/relationships" id="266" r:id="R5216d14504554225"/>
    <p:sldId xmlns:r="http://schemas.openxmlformats.org/officeDocument/2006/relationships" id="267" r:id="R49b0df273f6541a0"/>
    <p:sldId xmlns:r="http://schemas.openxmlformats.org/officeDocument/2006/relationships" id="268" r:id="R38137dcfc10b476e"/>
    <p:sldId xmlns:r="http://schemas.openxmlformats.org/officeDocument/2006/relationships" id="269" r:id="R17a0ecafbe654c59"/>
    <p:sldId xmlns:r="http://schemas.openxmlformats.org/officeDocument/2006/relationships" id="270" r:id="Rd0149d30e13c43ea"/>
    <p:sldId xmlns:r="http://schemas.openxmlformats.org/officeDocument/2006/relationships" id="271" r:id="Redf0941b9ea748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175e6f42bbb4863"/><Relationship Type="http://schemas.openxmlformats.org/officeDocument/2006/relationships/theme" Target="/ppt/theme/theme1.xml" Id="R6366c9a94f8544ef"/><Relationship Type="http://schemas.openxmlformats.org/officeDocument/2006/relationships/notesMaster" Target="/ppt/notesMasters/notesMaster1.xml" Id="R43720b17efa149e7"/><Relationship Type="http://schemas.openxmlformats.org/officeDocument/2006/relationships/presProps" Target="/ppt/presProps.xml" Id="R224e9c4c966341ce"/><Relationship Type="http://schemas.openxmlformats.org/officeDocument/2006/relationships/viewProps" Target="/ppt/viewProps.xml" Id="R2af605f0b0d746fc"/><Relationship Type="http://schemas.openxmlformats.org/officeDocument/2006/relationships/tableStyles" Target="/ppt/tableStyles.xml" Id="Red5617e68c294337"/><Relationship Type="http://schemas.openxmlformats.org/officeDocument/2006/relationships/slide" Target="/ppt/slides/slide1.xml" Id="R08ac93b14ae94faa"/><Relationship Type="http://schemas.openxmlformats.org/officeDocument/2006/relationships/slide" Target="/ppt/slides/slide2.xml" Id="R2e50d252e0ec420d"/><Relationship Type="http://schemas.openxmlformats.org/officeDocument/2006/relationships/slide" Target="/ppt/slides/slide3.xml" Id="Rc373e0e01bbf4113"/><Relationship Type="http://schemas.openxmlformats.org/officeDocument/2006/relationships/slide" Target="/ppt/slides/slide4.xml" Id="Rb81735a42a6f4fea"/><Relationship Type="http://schemas.openxmlformats.org/officeDocument/2006/relationships/slide" Target="/ppt/slides/slide5.xml" Id="R407f82767c3348f3"/><Relationship Type="http://schemas.openxmlformats.org/officeDocument/2006/relationships/slide" Target="/ppt/slides/slide6.xml" Id="Re28eb1f5c3414941"/><Relationship Type="http://schemas.openxmlformats.org/officeDocument/2006/relationships/slide" Target="/ppt/slides/slide7.xml" Id="Rd62a83f6891840c2"/><Relationship Type="http://schemas.openxmlformats.org/officeDocument/2006/relationships/slide" Target="/ppt/slides/slide8.xml" Id="R07153838fea74a7d"/><Relationship Type="http://schemas.openxmlformats.org/officeDocument/2006/relationships/slide" Target="/ppt/slides/slide9.xml" Id="R47dc70ebdc0b49e3"/><Relationship Type="http://schemas.openxmlformats.org/officeDocument/2006/relationships/slide" Target="/ppt/slides/slide10.xml" Id="R7e0c12ec5d914057"/><Relationship Type="http://schemas.openxmlformats.org/officeDocument/2006/relationships/slide" Target="/ppt/slides/slide11.xml" Id="R5216d14504554225"/><Relationship Type="http://schemas.openxmlformats.org/officeDocument/2006/relationships/slide" Target="/ppt/slides/slide12.xml" Id="R49b0df273f6541a0"/><Relationship Type="http://schemas.openxmlformats.org/officeDocument/2006/relationships/slide" Target="/ppt/slides/slide13.xml" Id="R38137dcfc10b476e"/><Relationship Type="http://schemas.openxmlformats.org/officeDocument/2006/relationships/slide" Target="/ppt/slides/slide14.xml" Id="R17a0ecafbe654c59"/><Relationship Type="http://schemas.openxmlformats.org/officeDocument/2006/relationships/slide" Target="/ppt/slides/slide15.xml" Id="Rd0149d30e13c43ea"/><Relationship Type="http://schemas.openxmlformats.org/officeDocument/2006/relationships/slide" Target="/ppt/slides/slide16.xml" Id="Redf0941b9ea74887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2.xml" Id="Rbc3df00507884db6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irkungsoekonomie">
  <a:themeElements>
    <a:clrScheme name="Wirkungsoekonomi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rkungsoekonomi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04905fbe40864d87"/><Relationship Type="http://schemas.openxmlformats.org/officeDocument/2006/relationships/notesMaster" Target="/ppt/notesMasters/notesMaster1.xml" Id="Rcee28bed8be44778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e9dadb49ddf841ae"/><Relationship Type="http://schemas.openxmlformats.org/officeDocument/2006/relationships/notesMaster" Target="/ppt/notesMasters/notesMaster1.xml" Id="R85a074fd65c14f64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612c0e7483ed4a02"/><Relationship Type="http://schemas.openxmlformats.org/officeDocument/2006/relationships/notesMaster" Target="/ppt/notesMasters/notesMaster1.xml" Id="Rc59840c415a04ae7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be0a431f330e41f7"/><Relationship Type="http://schemas.openxmlformats.org/officeDocument/2006/relationships/notesMaster" Target="/ppt/notesMasters/notesMaster1.xml" Id="Rda72753886c1400b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16faf933f68d4ec0"/><Relationship Type="http://schemas.openxmlformats.org/officeDocument/2006/relationships/notesMaster" Target="/ppt/notesMasters/notesMaster1.xml" Id="R8d50996865394946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a1806f2568c4469a"/><Relationship Type="http://schemas.openxmlformats.org/officeDocument/2006/relationships/notesMaster" Target="/ppt/notesMasters/notesMaster1.xml" Id="Rb7de34340918410d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f7e3ea337dee434c"/><Relationship Type="http://schemas.openxmlformats.org/officeDocument/2006/relationships/notesMaster" Target="/ppt/notesMasters/notesMaster1.xml" Id="R6c0d22fb63cc423c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7b6ec8055eb646c3"/><Relationship Type="http://schemas.openxmlformats.org/officeDocument/2006/relationships/notesMaster" Target="/ppt/notesMasters/notesMaster1.xml" Id="Ra7df378879d44a62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beaa9bd7439d45b2"/><Relationship Type="http://schemas.openxmlformats.org/officeDocument/2006/relationships/notesMaster" Target="/ppt/notesMasters/notesMaster1.xml" Id="R0ce1a7fc5e19450a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3fa025ad28f34e71"/><Relationship Type="http://schemas.openxmlformats.org/officeDocument/2006/relationships/notesMaster" Target="/ppt/notesMasters/notesMaster1.xml" Id="R9b5741f1350c49fe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1cd4e11d446842e1"/><Relationship Type="http://schemas.openxmlformats.org/officeDocument/2006/relationships/notesMaster" Target="/ppt/notesMasters/notesMaster1.xml" Id="Rd54e39fa24a249bc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9655f62c051945c7"/><Relationship Type="http://schemas.openxmlformats.org/officeDocument/2006/relationships/notesMaster" Target="/ppt/notesMasters/notesMaster1.xml" Id="R496134e7d4354cd4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688e7f9ec13d4ec9"/><Relationship Type="http://schemas.openxmlformats.org/officeDocument/2006/relationships/notesMaster" Target="/ppt/notesMasters/notesMaster1.xml" Id="Ree47282955e54e24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0bb27132dbfe4746"/><Relationship Type="http://schemas.openxmlformats.org/officeDocument/2006/relationships/notesMaster" Target="/ppt/notesMasters/notesMaster1.xml" Id="R70e0b3e0053e4b0a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efe625a9c24142c5"/><Relationship Type="http://schemas.openxmlformats.org/officeDocument/2006/relationships/notesMaster" Target="/ppt/notesMasters/notesMaster1.xml" Id="R84fc3f6f99374151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dab11e65b380451e"/><Relationship Type="http://schemas.openxmlformats.org/officeDocument/2006/relationships/notesMaster" Target="/ppt/notesMasters/notesMaster1.xml" Id="R97557e45282143e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48d773ce2fa4075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78b60356e03411d"/><Relationship Type="http://schemas.openxmlformats.org/officeDocument/2006/relationships/slideLayout" Target="/ppt/slideLayouts/slideLayout2.xml" Id="R4790aedb634344a0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90aedb6343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91f631f7f0f74dc0"/><Relationship Type="http://schemas.openxmlformats.org/officeDocument/2006/relationships/notesSlide" Target="/ppt/notesSlides/notesSlide1.xml" Id="Rb9fa247bb301456f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aea24d5ff0ce4c17"/><Relationship Type="http://schemas.openxmlformats.org/officeDocument/2006/relationships/notesSlide" Target="/ppt/notesSlides/notesSlide2.xml" Id="R901e1bac57b941a0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239f20ca40844592"/><Relationship Type="http://schemas.openxmlformats.org/officeDocument/2006/relationships/notesSlide" Target="/ppt/notesSlides/notesSlide3.xml" Id="R14246f20801b46b5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0afe0587ee984e89"/><Relationship Type="http://schemas.openxmlformats.org/officeDocument/2006/relationships/notesSlide" Target="/ppt/notesSlides/notesSlide4.xml" Id="R6ee64c65abe743a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4e5bf5951f694ea9"/><Relationship Type="http://schemas.openxmlformats.org/officeDocument/2006/relationships/notesSlide" Target="/ppt/notesSlides/notesSlide5.xml" Id="Rd57c76b8c13b49e4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f7bb9639ce0f4794"/><Relationship Type="http://schemas.openxmlformats.org/officeDocument/2006/relationships/notesSlide" Target="/ppt/notesSlides/notesSlide6.xml" Id="R937eba405f6340a4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a893e8bf8564135"/><Relationship Type="http://schemas.openxmlformats.org/officeDocument/2006/relationships/notesSlide" Target="/ppt/notesSlides/notesSlide7.xml" Id="R6bb2897094e84c64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8fc89edc9f0a4aaf"/><Relationship Type="http://schemas.openxmlformats.org/officeDocument/2006/relationships/notesSlide" Target="/ppt/notesSlides/notesSlide8.xml" Id="Re452c2608c394dac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590eebbbed354ec1"/><Relationship Type="http://schemas.openxmlformats.org/officeDocument/2006/relationships/notesSlide" Target="/ppt/notesSlides/notesSlide9.xml" Id="R93c015503de641a8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9b5ab90a1da43a3"/><Relationship Type="http://schemas.openxmlformats.org/officeDocument/2006/relationships/notesSlide" Target="/ppt/notesSlides/notesSlide10.xml" Id="R649f14222f15426a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6e2a0a360744e9a"/><Relationship Type="http://schemas.openxmlformats.org/officeDocument/2006/relationships/notesSlide" Target="/ppt/notesSlides/notesSlide11.xml" Id="Re7eae73db2354f8b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3c8e5b2d9ab14cc7"/><Relationship Type="http://schemas.openxmlformats.org/officeDocument/2006/relationships/notesSlide" Target="/ppt/notesSlides/notesSlide12.xml" Id="Rc429e0eecd4f43c3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c50b7e9fe72c418e"/><Relationship Type="http://schemas.openxmlformats.org/officeDocument/2006/relationships/notesSlide" Target="/ppt/notesSlides/notesSlide13.xml" Id="R2de2ac87e9094334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bb1b7c877f04947"/><Relationship Type="http://schemas.openxmlformats.org/officeDocument/2006/relationships/notesSlide" Target="/ppt/notesSlides/notesSlide14.xml" Id="R5bbfef242cd2467e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20602877e31641a5"/><Relationship Type="http://schemas.openxmlformats.org/officeDocument/2006/relationships/notesSlide" Target="/ppt/notesSlides/notesSlide15.xml" Id="R456b3b483c9c441c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dbce8e3f498c4b46"/><Relationship Type="http://schemas.openxmlformats.org/officeDocument/2006/relationships/notesSlide" Target="/ppt/notesSlides/notesSlide16.xml" Id="R430c30df17934443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5355A089-0CE0-4CA1-9A5A-7980DF9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DB4C2-C10E-413C-97B6-DFBF46E4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3" y="576072"/>
            <a:ext cx="283464" cy="283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1260">
            <a:solidFill>
              <a:srgbClr val="F6F1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26344-1382-42FE-AE7A-9DDAD27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" y="741426"/>
            <a:ext cx="283464" cy="283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126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DF5CA-C9C5-43E3-ACCB-517AE59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741426"/>
            <a:ext cx="283464" cy="283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126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AE35E-6D50-4BB9-BAC4-4BC59EB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" y="8181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669A1-701B-4E76-A713-EB85B839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81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AKADEMIE FÜR 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ABF6D-4D24-48F5-BCBA-15106115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CBCB2-EF3E-46CA-AB86-3F5B5D3B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WÖK-G1 | MODUL G1.1 | VORLESUNG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803B6-2CF8-412E-A9FA-D7228BE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Wirkung statt Kapital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11B5E-1768-4F21-AB8A-6772219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Warum Kapital Werkzeug bleibt, aber nicht länger Kompass sein darf.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3C8D8-F783-44EF-913D-F58022F4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F5617-C1FE-439E-B751-CD9196CC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Leitfrage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4C066-68E2-48C9-8632-7EB90567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Wofür arbeitet Kapital?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767D1-1530-4AF1-AB81-A2BCF9D6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191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78937-65C8-4D74-8517-93DE41AB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406" y="150647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5662">
            <a:solidFill>
              <a:srgbClr val="F6F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95568-F6D6-4973-8764-E63E9AAD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74" y="178384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5662">
            <a:solidFill>
              <a:srgbClr val="2F7D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45756-6408-4648-BF32-5ED60ED4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338" y="178384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5662">
            <a:solidFill>
              <a:srgbClr val="C8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D0F1A-697A-4A38-A57A-95C0098E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526" y="1912620"/>
            <a:ext cx="99060" cy="9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EE274-C085-479E-B4FE-74D0194E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Werkzeug.</a:t>
            </a:r>
          </a:p>
          <a:p xmlns:a="http://schemas.openxmlformats.org/drawingml/2006/main">
            <a:pPr algn="ctr">
              <a:defRPr sz="18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Nicht Ziel.</a:t>
            </a:r>
          </a:p>
          <a:p xmlns:a="http://schemas.openxmlformats.org/drawingml/2006/main">
            <a:pPr algn="ctr">
              <a:defRPr sz="18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Kompass heißt Wirkung.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8D16A-8930-47D3-BC4C-B5E973BE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F5B93-3237-46C8-8465-EEC6799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191334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5FA15694-2F35-4621-81B0-B114862C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98779-7018-4708-869A-B7442E5B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9C9A1-6B08-44D5-88AE-6344F2C6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26BD0-6B1C-4E76-A86E-C967E1BF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FF258-3B41-49D0-8795-597105D3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85F1A-136E-4CF1-A2C1-8A7C6BEB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2521-C025-475F-B470-D6C67FB8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81589-678F-4ED7-BD1A-D7D4F167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RÜCKBLICK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D5EFC-0DCE-42FF-A78C-ABE16029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Von der Maßstabskrise zum Kapitalproblem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AE760-67C7-4174-BF1C-F3DF6CC4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V01 zeigte: Viele Steuerungsgrößen messen Bewegung, aber nicht automatisch Richtung.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B883B-BDAF-45B1-A077-50ED9EB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185EC-1AAD-4DCA-97F8-4D545AA4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02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03634-F646-4096-95B4-86D1314E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6C745-3672-454C-9B7C-5CA29AD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Viele Daten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98326-9356-4357-A572-6ED2AADD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792D2-50B8-40D1-A4C1-4D0A2F13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Dashboards, Kennzahlen,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Rankings,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422CF-1A61-4F34-8FBB-E4A13FB7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4D308-6019-4FB4-BE6D-7853C93B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E7129-4CED-4534-9AF3-8E8FFC0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48A80-3AFC-41E1-8040-64061B6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Falscher Kompass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78032-DAB5-4271-A1DA-ABB0BC8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69E6B-E3CD-48A3-84E1-0C7767D5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Gewinn, Wachstum,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Reichweite dominieren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03EA0-FEBC-41A1-8B7C-446AB3F4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8C50A-8656-4ED2-BFB7-F6AAF242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2DDA8-27C9-4792-AA45-D0E4C9EF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6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B69965-F6E2-4B16-A40C-2C95484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Kapitalfrage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F6544-434F-4DE5-800E-6397FE01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0B779-31D0-400F-AA32-33BF664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Was bekommt Mittel,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Kredit, Marktchance?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490E5-3202-4585-8974-30554BD4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62550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C654FF-AA2E-465F-B2FB-5252F4D2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1495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Systemische Frage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C2AB1-39BE-4840-A02E-1B9D489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19750"/>
            <a:ext cx="461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Nicht: Ist Kapital gut oder schlecht? Sondern: Wofür arbeitet Kapital?</a:t>
            </a:r>
          </a:p>
        </p:txBody>
      </p:sp>
    </p:spTree>
    <p:extLst>
      <p:ext uri="{BB962C8B-B14F-4D97-AF65-F5344CB8AC3E}">
        <p14:creationId xmlns:p14="http://schemas.microsoft.com/office/powerpoint/2010/main" val="13124145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53FC260A-CE5D-45E2-A381-5C7971C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8E254-3B01-4280-B92B-187C67D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3F616-11A5-4B03-8DAA-E19A8CBF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7E62E-C378-43C6-83F6-D5A8811B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4D446-CE5D-4987-BABC-6573849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E83E5-8C00-4B5A-B913-6F8ADA60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367A3-15EC-478C-BB05-87AFAD3B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31501-A234-42AA-A214-013EBD2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KERNFORMEL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BD47C-34A8-4FAC-B8CD-25D9FA1F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 bleibt - aber es führt nicht mehr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61C46-F8ED-4584-97CA-2B27A63B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Die Wirkungsökonomie ordnet alte Erfolgsgrößen neu ein, statt sie zu verbieten.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FC0D2-7E41-4DB5-A946-F2837ED9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4F45F-C2F9-49C4-8F7D-C9866E7F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03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7CE93-38E3-4FCD-97AF-4145030D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A9FBC-BFB9-4AE1-BDB4-763C1D7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861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52CA3-BDD1-4D95-95CC-ECA53351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25AE7-9C09-44B6-8556-4DF5A2D4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bleibt Werkzeug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9729A-F541-4248-86ED-2AEC9B22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8C12-3CA5-42FB-973F-E603FE3E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71E57-8C78-4630-BF89-505F2BB8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Gewinn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861C0-1E9B-4ECA-9A60-82082AE2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339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bleibt Tragfähigkeitssignal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E0690-E14F-4362-981B-4FD893B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38783-0918-460A-A55A-FA1F650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861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596A0-F569-46AA-ADF3-FC4B906E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Markt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2DFDE-F144-42C3-9738-83A034E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339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bleibt Suchprozess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C4D84-D29A-4D46-9D55-313AEDD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84A09-D3D3-4ACE-A017-F4C3544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B3AB9-2891-464F-812B-9248979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Wirkung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DE5D5-810E-48D0-B576-E312D2FF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339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wird Kompass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110C3-978D-46AB-83BD-D793F04F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10200"/>
            <a:ext cx="556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AEE5B-52C9-408E-A12E-36C1E8E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6260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Nicht weniger Wirtschaft - bessere Richtung.</a:t>
            </a:r>
          </a:p>
        </p:txBody>
      </p:sp>
    </p:spTree>
    <p:extLst>
      <p:ext uri="{BB962C8B-B14F-4D97-AF65-F5344CB8AC3E}">
        <p14:creationId xmlns:p14="http://schemas.microsoft.com/office/powerpoint/2010/main" val="1762471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F9DFC2EA-E36E-43C0-905D-783949DA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50CE9-A72C-48B3-A620-8EDB262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AC5B3-942D-409A-AB01-2FFE29DD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D05F9-0DCC-4A3E-BA72-36DC892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5A601-E651-4651-BC7A-E149B190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7D6F9-D3DD-444F-9B8F-D38CAB6B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B42AB-5615-44CE-A823-0FFDFF0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8764C-2231-457E-8B32-0E58C237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ROLLE VON KAPITAL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33E12-29A0-4A3C-8816-9D45FCCC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 ist gespeicherte Handlungsmöglichkeit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494C8-85AA-4FFE-B6AF-5108E915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 übersetzt Gegenwart in Zukunft: Es ermöglicht Projekte, bevor ihr Nutzen entstanden 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2D6F5-92DE-4757-B628-CC4F2259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972E5-641A-4BBC-91AC-0BA41D13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04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B067C-46D9-430E-8625-3B2FEAAF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4DB85-78E4-4FBC-9445-3D104762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57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Geld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49C11-B426-48BE-BAAB-9E8FB0B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AFEE-9AB8-437F-935E-897002B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Kredit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330A7-823B-4490-BD44-88FFD4D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6EAFD-EE04-4CEB-B36C-77EDE12D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57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Maschinen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EE7F7-E651-4FA5-AC4D-412FAA42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362B3-E18E-461D-8023-D49C0593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Gebäude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04285-B85B-493C-9456-4BF32FBA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2584F-F667-4939-87BD-EE551CA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Daten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8D0E5-9A1A-4D2A-B835-FAFEE25E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1D6CE-566B-492A-BFF3-75CAC42B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Boden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08B33-88FA-47DF-9A74-6FF43CE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090E8-44A3-4647-A691-60C46AD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81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Wissen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8B909F-F26A-40DA-BA2B-0312E82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08E2B5-1D65-4479-9787-D777B26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Netzwerke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E9FA0-0DB0-435B-9EAC-BE59634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05375"/>
            <a:ext cx="6534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5E789-4FD9-48CE-B8B1-3E96E50F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81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CC9B2-3D09-44DD-AC1E-560620FA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43500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6E5875-8666-4D9A-9D5F-7FABC4FF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9590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Ermöglichung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A47DBE-C902-4F20-A383-7FC0D2DF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00700"/>
            <a:ext cx="461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Krankenhaus bauen, Stromnetz finanzieren, Forschung starten, Wohnraum schaffen.</a:t>
            </a:r>
          </a:p>
        </p:txBody>
      </p:sp>
    </p:spTree>
    <p:extLst>
      <p:ext uri="{BB962C8B-B14F-4D97-AF65-F5344CB8AC3E}">
        <p14:creationId xmlns:p14="http://schemas.microsoft.com/office/powerpoint/2010/main" val="13136413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CDD32062-A604-45AF-90C5-D2B6160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EE9A0-A201-4ECE-8C94-1A77AD63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B760E-C160-45BB-A808-56571533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C2D67-B27F-4E8B-9EA3-906C5D6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7787C-B31A-41E5-8D9F-8D69EB1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228E1-76DB-4A99-A178-C9490AC0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E2ABA-2F7C-4B47-8C32-E8EF331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8A759-8E56-4EDD-B50C-EB989371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ROLLENTAUSCH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D3A54-5D1C-46E9-A9AD-1D6271E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Wenn das Werkzeug zum Ziel wird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8816B-CB72-4599-9B2F-6FBB11F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Der Fehler beginnt dort, wo Kapitalvermehrung selbst als Erfolg gilt.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36A22-58BA-4C50-8038-536D176E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93992-743D-49A8-9DD4-C5098C40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05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4D7DE-0A0A-42DF-AA6A-72F2D6C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3375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1836F-8C15-4B33-A9EA-9543FE02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86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Werkzeug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65E26-BD64-4002-8257-0B47514A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100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BB892-45CA-4DF9-9ADA-F55F141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 ermöglicht Handlung und Zukunft.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0E1A2-7737-4121-9220-B34E000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2724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D3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2A9BF-F3AF-4360-BEC8-B8210AF6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Ziel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AF6B0-6B46-4556-B814-67F6A3D5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C0C08-0CBE-4FE0-A420-3BB4157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Rendite, Marktwert und Wachstum werden zum letzten Maßstab.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BBD5A-7927-4F8F-90A1-D9D6C3AA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C5031-5496-4720-A8AF-C7A10921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E95E8-E245-4780-A8FE-A1D4351A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33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B1C80-CD27-40C9-A114-798214E2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338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Fehler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84EC0-0896-48E1-AA68-A752B326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563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FE2B6-C830-4B28-8195-019B477F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05450"/>
            <a:ext cx="5067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Ein Verstärker wurde zum Kompass. Aber Kapital hat keine eigene Richtung.</a:t>
            </a:r>
          </a:p>
        </p:txBody>
      </p:sp>
    </p:spTree>
    <p:extLst>
      <p:ext uri="{BB962C8B-B14F-4D97-AF65-F5344CB8AC3E}">
        <p14:creationId xmlns:p14="http://schemas.microsoft.com/office/powerpoint/2010/main" val="514485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8E160198-C0B7-4355-BD05-BA48C9B5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26345-4787-4F90-83E4-4BBAC0BA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E8F4F-A478-44FC-958F-6CD6541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5B7F8-70B4-42EA-83AC-A6D963BC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EAD1D-23E6-423C-B836-CAB1D96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48422-B928-4605-A40F-1C2F465D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D4463-58C7-4942-B689-3621A8B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BB760-2640-4FBA-B8CB-52954D96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KAPITALWIRKUNG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E10D6-B87F-4E05-8175-9E298220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 ist absichtslos, aber nicht wirkungsneutral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7118C-7573-4233-BFCA-ADCF7ACB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Wirkung entsteht nicht erst, wenn jemand sie beabsichtigt. Wirkung entsteht, wenn Zustände verändert werden.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6CFA4-1A99-44C9-B6CC-46B4254B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348ED-D59F-4B43-8509-DA9EF3D4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06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42CB8-AC4A-480E-9A43-8EA501EC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52B6F-05EF-410D-9438-EEE67FD1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Kapitalfluss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DEDA1-F2DA-4260-838E-E30797E1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9B1A2-5599-49ED-AF34-94A47D4C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Kredit, Beteiligung,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Versicherbarkeit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2D9E3-C5AB-4F2E-B3A2-04AC35A3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22774-ABFF-4902-B777-90815D5D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57D23-2D86-44D8-8690-52945B00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052FD-B350-4287-9CE2-F1FAA2D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Ermöglichung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FAF3E-8589-49FC-AA93-E5C98B60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67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D8B97-CC86-49A8-8987-721AF41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576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Technologie, Projekt,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Geschäftsmodell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1210B-A751-4438-829B-70C1A41E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CA0B1-D304-402F-9075-58D813CE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50A57-82CD-4E5C-BB2B-D910B76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909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BD735-FEDE-4F37-9CED-6E3CE03F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Zustandsänderung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6803C9-30C9-4263-8A6E-B05F363B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8069C-47D3-4AC3-BDAB-DAEF4D24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576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Arbeitsbedingungen,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Klima, Öffentlichkeit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5F62E-612D-4A1B-8E18-8FD79F9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0FC36-DABD-4B27-A017-C2830C3F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72100"/>
            <a:ext cx="480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Merksatz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ACB67-4F3F-4115-BE09-FB8CD3E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480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Kapital hat keine Moral. Aber Kapitalflüsse geben Geschäftsmodellen Zukunftsmacht.</a:t>
            </a:r>
          </a:p>
        </p:txBody>
      </p:sp>
    </p:spTree>
    <p:extLst>
      <p:ext uri="{BB962C8B-B14F-4D97-AF65-F5344CB8AC3E}">
        <p14:creationId xmlns:p14="http://schemas.microsoft.com/office/powerpoint/2010/main" val="4979535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FBD13199-3424-4E82-944F-1A5D2A04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8A761-DB6F-416E-86A7-D3CBCB5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B9F9-B1AF-4C29-BA48-009731DC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0A202-21B9-4B01-A413-FFA129EF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6DB80-CA50-4CE7-BC38-DEE158D7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4CD33-6C2D-4F4D-8818-818D987F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665DC-04D0-443E-B984-88396EDB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0259B-1FDA-4793-A90A-A4FD4192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BLINDE FLECKEN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466B0-6CE1-43F2-B843-C5AC34A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Was der alte Kompass sieht - und was nicht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AC7C7-7D33-443E-8793-945AAD6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Kapitalkennzahlen zeigen ökonomische Bewegung, aber nicht automatisch die Folgen dieser Bewegung.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01E65-44AE-406B-BD2E-335D1109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D218-17CE-4362-8E39-9CD66CB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07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F542E-0A61-4025-8D5E-E27D393A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F78B3-AD49-4BC6-BD8D-2D657424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Kapitalgröße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21B59-6000-41C9-AD5E-80D1A05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D6D7B-5370-4BE6-ACD6-D04AD28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Sichtbar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0CC78-D56E-4254-8CE8-55E38ADE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45FBD-CD95-4386-B122-0EEE07CF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Nicht automatisch sichtbar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6FEB6-F7C7-4A80-8D28-D59EC1F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A3232-FBB7-4614-99B9-410F4B1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Rendite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3C554-42A6-455B-B5E2-F1465DC7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4BE08-04E7-46BA-BCE8-80F9E16C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9570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Ertrag im Rechnungsrahmen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EE765-C04B-4071-8E2E-774484FF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52208-CC1B-4394-9FC0-72FA144B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9570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Externalisierte Kosten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93C80-559B-466A-BC62-7D8A604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C2015-6ADC-47E6-82AF-39BBC5B1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Marktwert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BCA3B-4F04-40AC-897A-2084917B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F36C1-CBE4-4DBF-AC77-E95B3EC7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1005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Kapitalerwartung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4B835-71BF-4DFB-BEEA-40D2498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09AC8-BF29-421C-9FB4-8D9825F0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Systemwert und Resilienz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416CD-8FC3-4FB7-8589-61CAF578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7F26C-3E29-4E44-86CD-2858520C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DFCD80-455D-4314-BF58-B74D0989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0F4F3E-F657-463D-B0BD-54CB43C1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2440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Zahlungsbereitschaft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284C61-AEDA-4F25-8CE6-7CBC048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9A7DE4-DCB6-412E-8A39-AD4738C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2440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Folgekosten und Wirkung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6A3DB5-ADEB-4BB4-AA15-17BE3F19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5F8120-6294-43C9-8DF5-EDD66375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387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Umsatz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2F54C7-22FA-4C12-95DC-50A0F7A8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673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D7C0A6-5A62-4D37-925A-01F63B1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3875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Absatzbewegung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D3395D-126D-4DD3-B86D-AC8EF628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673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0C4A61-2E2F-4592-8083-89264898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3875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Produktwirkung</a:t>
            </a:r>
          </a:p>
        </p:txBody>
      </p:sp>
    </p:spTree>
    <p:extLst>
      <p:ext uri="{BB962C8B-B14F-4D97-AF65-F5344CB8AC3E}">
        <p14:creationId xmlns:p14="http://schemas.microsoft.com/office/powerpoint/2010/main" val="4229512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5091135E-A77B-450A-88E5-52927E4A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555D8-9081-4613-8836-1E0B08C6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62409-D9C4-4EB8-A7E2-C4E58ABB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A9C45-A197-4893-BE74-331D2572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74031-BD05-4B9E-A5E3-603EE56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F3922-1353-4454-B8E3-6AC55BAB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CA105-2BC9-43B0-AF3D-DC557E4C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F179A-6E46-4685-A023-74174E32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GEWINN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C6025-F85B-44CA-8B72-1C874E5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Gewinn bleibt - aber als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87779-FCA0-455F-A546-01588C35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Ohne Tragfähigkeit keine stabile Wirkung. Aber Gewinn ersetzt keine Wirkungsbewertung.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676C4-33BB-434D-BEA5-EC3C8BF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37FCA-4882-4700-A1D7-143C316C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08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29917-6CFD-441D-A40A-B4990758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82D7F-DF4B-47E8-8D13-A381583C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Notwendig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AD12A-9181-4AB0-B9ED-109562BB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3D9F4-0315-4D8E-97DE-0ACB7202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Löhne zahlen, Innovation finanzieren, Lieferanten sichern, langfristige Risiken tragen.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1F432-9E51-4C61-BBE6-C0713826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470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4FBC5-94D4-40A0-8C7B-E950CAF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Begrenzt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BDBEE-42F4-4F2C-91EF-B113A5CF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A17FE-5352-4DAD-9346-9E89BD1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Gewinn zeigt nur, was im Rechnungsrahmen sichtbar 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4F04C-7D3D-4894-A643-8A51FCC4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14700"/>
            <a:ext cx="2724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D3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A8B35-9CD8-4972-8861-28983AFB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67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Zu prüfen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4A033-B1E6-4C29-A336-F370EF1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BBADE-56D1-40A6-941A-B478A734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Entsteht Gewinn durch Lösung - oder durch ausgelagerte Folgekosten?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30F71-02AF-4A2E-86B1-A7D22C8D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03452-E8F5-4B43-89D2-29CD812A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81650"/>
            <a:ext cx="462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Gewinn ist Tragfähigkeitssignal, nicht letzter Maßstab.</a:t>
            </a:r>
          </a:p>
        </p:txBody>
      </p:sp>
    </p:spTree>
    <p:extLst>
      <p:ext uri="{BB962C8B-B14F-4D97-AF65-F5344CB8AC3E}">
        <p14:creationId xmlns:p14="http://schemas.microsoft.com/office/powerpoint/2010/main" val="12618627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D3E8A9AF-C755-4C85-BFF3-1690B55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0F77E-5A34-458A-832F-920A51C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88215-83AB-4DB8-84AA-3DBB810F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D27A4-8756-467F-8A0E-3BF221D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74B11-A938-412A-8C01-CD66ED8C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83B84-B51F-4088-B58A-BB6790BA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A235A-874D-4D30-A995-D70F97C3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38E42-B21E-4664-8DC0-5E315EDF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MARKT UND WETTBEWERB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52C4D-84B1-45CA-952E-2E7ED920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Märkte bleiben - aber mit besseren Signalen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31CD5-B3BF-421E-828D-DDD8375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Die Wirkungsökonomie ersetzt dezentrale Entscheidungen nicht durch zentrale Befehle.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48ABB-DC9D-4506-A427-244FBE1D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D8AE1-F3C9-4BF6-ABE5-C17BCD00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09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76DEC-2CD4-4FA4-A696-22FCCDD1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95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DB30B-7579-4EF9-B5B1-4BB96F80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Markt bleibt Suchprozess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1CD1-D1FA-4A4D-B93C-CC072DF0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5BCA0-970A-477A-8CDB-CF0C318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09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Unternehmen, Kund:innen, Investor:innen und Kommunen entscheiden dezentral.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21048-F1E7-4661-B971-6912291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81350"/>
            <a:ext cx="295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22E17-A475-4CDD-8464-44C3A4B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Preise brauchen Wahrheit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577AB-1966-485E-A0E5-765C82DA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576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9C0BF-FA9C-4A6D-9E10-EADC85B9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2609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Folgekosten und Systemwirkungen dürfen nicht im Schatten bleiben.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9E806-8F1F-4A77-BE63-46054FCC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295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36CAA-ED1F-4B93-BA79-BF0F0CFA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Wettbewerb verschiebt sich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AEBB7-B5F6-46F4-B4AD-19F179D2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9589B1-A615-485D-BE41-6358E146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48100"/>
            <a:ext cx="2609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Weg von Externalisierung, hin zu besserer Wirkung.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AD680-3E69-4193-AF59-43FCC781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34000"/>
            <a:ext cx="601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C7FB3-7079-4E35-ABA0-9612189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86400"/>
            <a:ext cx="544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Bessere Signale statt Marktverbot.</a:t>
            </a:r>
          </a:p>
        </p:txBody>
      </p:sp>
    </p:spTree>
    <p:extLst>
      <p:ext uri="{BB962C8B-B14F-4D97-AF65-F5344CB8AC3E}">
        <p14:creationId xmlns:p14="http://schemas.microsoft.com/office/powerpoint/2010/main" val="19935315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A83A35E2-BAAB-494E-99FB-4D475191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76681-A72D-405C-8F12-9CDC1A23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C2FD4-3EB7-40CE-B8EA-65A774F9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8B5E6-DDE4-4181-AA14-5C5046A5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6057C-B130-43D9-AA7A-9EDA2BA8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2E658-780A-4C31-9779-10EFFFDE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FE009-5583-4161-8A3B-EFDE40B7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B48F7-DF62-4083-966F-C7A7F70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WIRKUNG ALS KOMPASS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943D9-305D-4E5F-AED7-8BC88DFD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Mensch, Planet und Demokratie bilden den Zielraum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CBE79-3759-4100-B87B-DFD8E04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 wird nicht nach seiner Menge eingeordnet, sondern nach den Zuständen, die es ermöglicht.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76231-7FD4-4D63-A7D9-4992B67D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DD515-B502-46E2-AD7D-6366C43A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10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3B531-34F5-4511-AA3E-1F9771E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55D97-F941-40B4-B5B6-4107502C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95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7D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BB19E-D78D-48A2-98D0-87FDEC13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95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D450C-00FF-45CA-8193-225DB387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00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F01E6-AF1A-4204-92AA-59B4E297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WIRKUNG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2F685-E2A9-48E6-B505-49C3238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71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Mensch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59D70-C84D-41AC-A322-816FD954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57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Planet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99EC1-3336-4B4E-90AA-9A219E5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577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Demokratie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7BED9-AAB4-4D1A-A482-DD1562D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95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C67FD-75FD-47BE-8A33-D8F25815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Bewertung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16163-BF66-43B7-8479-6A0D573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2552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SDGs, Agenda 2030 und SDG+ schaffen den Referenzrahmen.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62238-6AE1-4837-9637-832F5E34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2895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B8D54-A550-457B-895E-15A24306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Zielgröße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26FC41-1896-462D-964C-06730313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552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Positive Netto-Wirkung ohne kritische Schäden an anderer Stelle.</a:t>
            </a:r>
          </a:p>
        </p:txBody>
      </p:sp>
    </p:spTree>
    <p:extLst>
      <p:ext uri="{BB962C8B-B14F-4D97-AF65-F5344CB8AC3E}">
        <p14:creationId xmlns:p14="http://schemas.microsoft.com/office/powerpoint/2010/main" val="13896431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4DE95FED-F2BF-43B1-A2A9-E4D1CCE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E42A3-53AE-4EE4-BB2C-E949F420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AD2EF-C52F-4892-AD64-9980DFF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97DF5-87C4-4210-9FB2-7EACA0B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F46CF-8F1E-45C1-B318-C01CFDEB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0B-7699-4603-9C65-F19261CD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306FF-198B-44D7-9B28-A6A76281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593BE-2034-4095-BE3D-198C997E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INVESTITIONSBEISPIEL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29548-A089-4F97-AEBB-85B46BD5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Gleicher Kapitalbetrag - andere Wirkung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C924A-E251-4BD5-A557-081A228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Solarpark und Kohlepfad können beide Rendite erzeugen. Der Kapitalbetrag allein reicht nicht.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8B4D4-8C9A-49D0-84EA-37D90C7F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B75B1-24CD-45D6-BAC1-03D7D78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11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8799E-4116-4C7A-B543-F51E3F1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4B716-2F41-466C-9BD9-80651222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Solarpark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B0AB5-0BA1-4B49-AA51-D38B275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AD9D4-9828-448C-BA50-96500880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Emissionen senken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Resilienz stärken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Klimarisiken reduzieren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EA95E-6B95-4ECE-8930-17051253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D3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6350B-1BA9-4218-B088-A23C9C3E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Kohlepfad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B38F0-E5E5-4948-B79C-756D09B6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52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9693A-51FA-4039-9FDF-2CA89EC9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Kurzfristige Versorgung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Beschäftigung sichern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Klimarisiken verlängern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A8CDA-523B-41FC-AA94-ED0B7118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14750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89415-D57C-4AB4-ADE2-57D0629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Kapital</a:t>
            </a:r>
          </a:p>
          <a:p xmlns:a="http://schemas.openxmlformats.org/drawingml/2006/main">
            <a:pPr algn="ctr">
              <a:defRPr sz="165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fließt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1AC79-87B8-489C-B826-D046C865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6F54D-2658-4F39-AF2A-2B2C56E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7F542-BCF2-428D-84D8-FFDFCB2C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87EE5-DDCD-4F65-875D-18128E10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90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EF85B-0DFE-410D-AE61-4675996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62600"/>
            <a:ext cx="651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WÖk fragt: Welche Zustände werden über Zeit wahrscheinlicher?</a:t>
            </a:r>
          </a:p>
        </p:txBody>
      </p:sp>
    </p:spTree>
    <p:extLst>
      <p:ext uri="{BB962C8B-B14F-4D97-AF65-F5344CB8AC3E}">
        <p14:creationId xmlns:p14="http://schemas.microsoft.com/office/powerpoint/2010/main" val="5250714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1ED7828C-DD81-4D02-8A85-7E2268EC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8EBC0-3314-4600-939F-6B6FFA88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6DA21-8377-4204-9924-64930A4E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CBAC1-CA82-4A94-8643-D503B67B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3BFA6-178F-43B2-80AF-3D34F03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5BAF-89D5-49C2-A8CB-2F055170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9B0E8-C22B-4DAF-ACAC-30835D2F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69AA-97F6-43BB-A8AA-C9ACCBA9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WIRKUNGSRÄUME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12D38-B848-4856-B23A-225F3336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Kapitalwirkung betrifft nicht nur Klima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C3660-1EB0-4F27-B600-E3FE2670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 formt soziale, ökologische und demokratische Räume zugleich.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EC058-B548-447C-B30C-CF30793A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FEFA5-C43E-420F-B4EC-6CE196A5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12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99573-870F-4330-9BEA-7F8E9CD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857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BCA97-F75E-48A6-874F-A308FC34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Wohnraum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CED00-1C09-4282-A536-1AD27BE7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7EA09-A479-48A8-BA3C-0A7D68C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2514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Zuhause, Gesundheit, Bezahlbarkeit, Nachbarschaft - oder Anlageklasse.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A43D3-AAF9-498B-AF22-CB4DADD9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2857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A9C4C-3A73-442D-970D-B248F94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Lieferkette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D17FC-390B-47B6-AA2B-194149F4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FB2F5-13ED-40DA-A743-231EDE16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514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Billiger Preis - oder Wasserstress, schlechte Löhne und ausgelagerte Kosten.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84851-B31F-4F9E-8CDF-61F2F959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2857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3C4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D4D4C-DBB1-4049-A75C-5420E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956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Medienmacht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70AD3-6D48-46E1-8B2A-8BBB3527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E8ECE-A9C4-4AE2-84BC-26B1557E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0000"/>
            <a:ext cx="2514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Qualitätsjournalismus ermöglichen - oder Erregungsmodelle skalieren.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1EDC5-F0D0-46A9-B10A-4EEFE085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95900"/>
            <a:ext cx="4419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8470A-49AE-4C54-9EBD-3066C7A2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4830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Leitfrage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E4A68-792D-4F21-A85F-F725F46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5310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Wofür arbeitet Kapital in diesem Wirkungsraum?</a:t>
            </a:r>
          </a:p>
        </p:txBody>
      </p:sp>
    </p:spTree>
    <p:extLst>
      <p:ext uri="{BB962C8B-B14F-4D97-AF65-F5344CB8AC3E}">
        <p14:creationId xmlns:p14="http://schemas.microsoft.com/office/powerpoint/2010/main" val="7263890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3AF4B4DF-6A26-424E-8115-FDD0E801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71A6F-3EFF-4151-ADC8-DEB4ED1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9528A-7CA0-466D-8DB5-5E37DCBB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95F87-E8ED-4E1F-BAB8-1373EA38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35D90-A275-4CAC-87F0-593220F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17FF5-F09C-478C-AE7C-BCCA48DB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7CC9B-1784-4E13-8349-469BB0AB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3861E-533A-4AE4-93DE-B0316BE4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ABGRENZUNG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B8505-B266-4348-AFA9-924838FC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Keine Planwirtschaft: Rückkopplung statt Befehl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E0FC5-68FC-47B8-8E6C-37A67360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Die WÖk verbessert die Informations- und Anreizgrundlage dezentraler Entscheidungen.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2DDE5-5737-44F7-B570-AF3A1A5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6B37D-DFAB-46DB-8844-EB02C2B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13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E52DF-FBE4-4273-9360-73F4CD2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7660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D3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12F71-25B5-428C-ACF0-EFC859A0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Planwirtschaft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D6A2F-2A15-4ACB-B293-347616BA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738F7-621E-421D-98EC-410D938E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3350"/>
            <a:ext cx="2800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Zentrale Produktionsentscheidung: Der Staat bestimmt, was produziert wird.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2871B-DED2-4DEE-8605-F65CC53E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3B3A8-2197-4E75-8165-0B27CBA9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2352C-8DEA-4D73-A446-4FA6EE3A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52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27E40-1627-47E2-A066-259E1151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2800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Wirkung sichtbar machen: Preise und Kapital tragen mehr Wahrheit.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648E7-9DB0-4CAF-B644-EC27FD23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576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5F66C-8D82-4A12-976A-87C9CE0E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71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BC4EE-6270-42DD-9AA6-83619D9A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ED6A9-7F1E-436E-BC2B-E12A6B2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197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Nicht zentrale Kontrolle. Bessere Rückkopplung.</a:t>
            </a:r>
          </a:p>
        </p:txBody>
      </p:sp>
    </p:spTree>
    <p:extLst>
      <p:ext uri="{BB962C8B-B14F-4D97-AF65-F5344CB8AC3E}">
        <p14:creationId xmlns:p14="http://schemas.microsoft.com/office/powerpoint/2010/main" val="172689170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978AC95E-C960-49FE-8183-E9721E8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0FC46-05AE-4EE9-B8C0-8581D856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FAE58-6C82-48B7-BC58-5864F2DE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C7AC1-7529-4CA1-B728-64515DC9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D7C26-362B-44C0-AB06-4ED1EC18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056F0-DDFE-4367-AB21-BE8D970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46D31-9D9D-4F03-BB8D-11AB8DAE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9FFC3-B36A-462B-9E1C-726F0BEA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DENKMODELL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B8325-8BCA-453B-B525-408BF4E5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 -&gt; Wirkung -&gt; Tragfähigkeit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56F41-C661-48E6-92B6-AF4DDD07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 wird nicht verdrängt. Es wird über Wirkung und Rückkopplung neu ausgerichtet.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4131B-5945-4872-8564-4DDC4433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AAC4C-F6E5-4A9E-AEE7-981312A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14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6074B-D4E0-4595-8092-4A67C843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DC81C-93CB-4919-AA41-7303EF6A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4E470-4E98-430D-AD2B-CC44DC3D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5F5A2-78B5-4C74-B9C4-5A6C4808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0095D-3A22-4B4E-AE34-BA6C4903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ermöglicht</a:t>
            </a:r>
          </a:p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Handlung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ED1ED-3140-41B5-B0E4-AB2666D0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2EBA3-B69D-4C9B-BBE7-1B29B96D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19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AB181-1E8C-4045-AC05-16792F9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53102-2ED8-4E78-AC6C-27809329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B560E-2EE0-4D47-A942-E37835BC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A0FC7-2391-4819-9A92-03651EFE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Handlung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B320B-F7B9-43E9-99E7-CD1F4A24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verändert</a:t>
            </a:r>
          </a:p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Zustände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4F2CB-C141-4D8D-BB15-EF86550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21C53-8554-4DAB-A851-0BCCF22C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9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28FCB-533D-42BD-BF18-E6EB5AD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D51EA-B766-4A83-A668-D14CF4C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5E621-356B-4301-A86C-63797DDE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F4BDC5-AF35-45F3-B1B6-C0E06C9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5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F7D5C"/>
                </a:solidFill>
                <a:latin typeface="Georgia"/>
                <a:ea typeface="Georgia"/>
                <a:cs typeface="Georgia"/>
              </a:rPr>
              <a:t>Bewertung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C124F5-8EA3-4584-8AE6-4F29C081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Mensch, Planet,</a:t>
            </a:r>
          </a:p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Demokratie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62228F-081B-4815-B46A-E53BC8F0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F5F024-CA84-4606-8AF9-6C9D44C3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9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EEF3D8-DE20-4618-A026-A5F0C2D5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9C247-885E-40F6-97A0-2C2323B3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8E233C-006E-460B-BACA-BD815AC4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F4FF01-6B90-4C79-921A-BB29B81B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5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85A4A"/>
                </a:solidFill>
                <a:latin typeface="Georgia"/>
                <a:ea typeface="Georgia"/>
                <a:cs typeface="Georgia"/>
              </a:rPr>
              <a:t>Rückkopplung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3C4360-7FF9-48C1-9D48-DC44C6C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Preis, Steuer,</a:t>
            </a:r>
          </a:p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Kapitalzugang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48F4DA-055C-4E22-94F1-0CCC9977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C"/>
          </a:solidFill>
          <a:ln xmlns:a="http://schemas.openxmlformats.org/drawingml/2006/main" w="0">
            <a:solidFill>
              <a:srgbClr val="E8E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90890E-525B-413A-8BF3-06B8C77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9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65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BB2F1C-089E-40D0-B37D-F87CB9C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A244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466A1C-37A6-4F18-B5BA-212558F2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440"/>
          </a:solidFill>
          <a:ln xmlns:a="http://schemas.openxmlformats.org/drawingml/2006/main" w="9525">
            <a:solidFill>
              <a:srgbClr val="1A244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88793E-3C0B-4FB8-9413-9DDC42A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2A8F6E-E7AF-4343-A51B-9BDEA4D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244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A2440"/>
                </a:solidFill>
                <a:latin typeface="Georgia"/>
                <a:ea typeface="Georgia"/>
                <a:cs typeface="Georgia"/>
              </a:rPr>
              <a:t>Tragfähigkeit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E3F05E-8715-479F-AAEA-3FA578EA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Gewinn als</a:t>
            </a:r>
          </a:p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2129C3-A20E-4B8D-B284-2DBA7427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3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Kapital fließt dorthin, wo positive Netto-Wirkung und Tragfähigkeit zusammenkommen.</a:t>
            </a:r>
          </a:p>
        </p:txBody>
      </p:sp>
    </p:spTree>
    <p:extLst>
      <p:ext uri="{BB962C8B-B14F-4D97-AF65-F5344CB8AC3E}">
        <p14:creationId xmlns:p14="http://schemas.microsoft.com/office/powerpoint/2010/main" val="18486503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208B78A4-7070-416E-83CB-37CAB54E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65A74-D349-4BB8-8FEC-DBE5AEBC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54E0F-869C-40D0-AF74-8621F90E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5AC99-4509-4F8C-B65B-11606BA8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E8AEA-5C81-4FD7-9522-4EDCED9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28277-4F1E-474B-8649-7CF0AA2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A544C-FDE1-4C09-B9C8-CB2C6B83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E4663-C8A7-4697-85AD-B252810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TRANSFERÜBUNG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363DB-FF49-40D2-9E1E-E3312F1A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Wofür arbeitet Kapital?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4E72C-BC16-4495-B59E-1A676CAD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Wähle ein Produkt, Unternehmen, Wohnprojekt, eine Investition, kommunale Maßnahme oder ein Medienmodell.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1FA2C-11AD-41E8-A782-DCE7482A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B801A-DFEF-47EE-8223-C9AA8E3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655B"/>
                </a:solidFill>
                <a:latin typeface="Aptos"/>
                <a:ea typeface="Aptos"/>
                <a:cs typeface="Aptos"/>
              </a:rPr>
              <a:t>15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27269-8041-4F53-BEE3-F7E4F88C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2A9BF-50CC-4369-A9D1-E901A0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B9E67-D0F3-43CE-B8A3-C6E5589E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8135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Kapitalform ist beteiligt?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A94BA-6A4E-40CE-B8F3-0AC21BC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E22CA-AB87-4213-AC59-7F9DA969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11278-9FED-4059-AE60-ADFE2A9C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Entscheidung wird ermöglicht?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3B390-E9C2-4247-BDD0-559231F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7DA20-7B59-473A-9863-2C54B784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D6321-84F2-487A-9620-56B4ED3A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2430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positiven Wirkungen könnten entstehen?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01E45-E354-4618-AFA3-E38D99C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ACB1C-9D46-4FBB-BBBA-8AEFDB5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51288-98F6-4115-9EF6-31BFB168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Risiken oder negativen Wirkungen entstehen?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51BD7-4725-4DE0-868B-BF4CF8DA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53F96-58BB-4C3A-9157-56B0C30C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AE59E-2875-4231-BAAB-2552B11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Wirkungsempfänger sind betroffen?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D05DF-EBB7-4C1C-8225-B2599A84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A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FA37B0-F44C-4CBE-9F85-D1A6C1C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7ED00-128C-4CAE-9B17-29A87458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Welche Frage macht Wirkung zum Kompass?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D87456-A225-4DED-A85B-37D544C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05450"/>
            <a:ext cx="560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54CAC1-52E8-471B-A0FE-290612A4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57850"/>
            <a:ext cx="502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Perspektivwechsel: Kapital nicht nur als Geldgröße, sondern als Wirkungshebel sehen.</a:t>
            </a:r>
          </a:p>
        </p:txBody>
      </p:sp>
    </p:spTree>
    <p:extLst>
      <p:ext uri="{BB962C8B-B14F-4D97-AF65-F5344CB8AC3E}">
        <p14:creationId xmlns:p14="http://schemas.microsoft.com/office/powerpoint/2010/main" val="16589264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ster-background">
            <a:extLst xmlns:a="http://schemas.openxmlformats.org/drawingml/2006/main">
              <a:ext uri="{FF2B5EF4-FFF2-40B4-BE49-F238E27FC236}">
                <a16:creationId xmlns:a16="http://schemas.microsoft.com/office/drawing/2014/main" id="{3371DFAC-4E72-4034-A1FC-7F302DE7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B9202-94E7-4C79-ACA9-D021F9B7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16" y="41681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F6F1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09042-55C0-44C0-A2C3-3FA2659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2F7D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F6CDE-5F28-45C1-AD99-2152D42E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" y="53416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8CCAB-7AD2-4713-8093-44E0465E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5886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03881-B1C1-44B5-9481-64792A9C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WIRKUNGSÖKONOMIE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0A861-522C-4892-A7D3-7CCF384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7C6FC-A01F-475C-AD39-B120D589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ABSCHLUSS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BC769-5D82-467B-A45A-E0B8DF2A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Der Kompass heißt Wirkung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A66C2-CECE-43A5-8FF8-98D7D836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Überleitung zu V03: Wie wird Wirkung sichtbar, bewertet und in Entscheidungen zurückgeführt?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687D1-5427-4468-A833-74DDC318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WÖk-G1 | G1.1 | V02 Wirkung statt Kapital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3ACF7-7BB5-4BA2-8977-C6AE538E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16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80C50-311A-46C9-ABBC-6BC39955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11E89-5087-4D8F-A8FD-093BF4E5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Kapital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15996-F4F4-477F-92B1-8F505C0A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bleibt Werkzeug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30894-5EC5-4F82-AEC9-90D7EBDF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2823D-9171-4E5E-ACBB-A66B4BD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Gewinn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76F44-7B2B-4838-9AF7-CDDE10B3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243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bleibt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E982F-04B3-42A7-AF53-4A1E1F0C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B934E-4D28-4532-B76B-44A6114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Markt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21FBE-9BBB-4CF2-B419-9F2435D7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243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bleibt Suchprozess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192CC-A156-478F-BDFA-CBD5B089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FDAF8-43CC-4413-B3AC-B0E66FD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Wirkung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B644C-AA59-47A4-A149-2EE64B5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wird Kompass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05C9C-BE11-4F3B-A9DC-047CE19A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7200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1E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6F1E8"/>
                </a:solidFill>
                <a:latin typeface="Georgia"/>
                <a:ea typeface="Georgia"/>
                <a:cs typeface="Georgia"/>
              </a:rPr>
              <a:t>Werkzeug. Nicht Ziel. Mittel. Nicht Maßstab. Verstärker. Nicht Kompass.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505F94-DBE5-4851-BAD9-A94CBA88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81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C731D-51D7-44E0-8B14-C8656564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293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9B3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C89B3C"/>
                </a:solidFill>
                <a:latin typeface="Georgia"/>
                <a:ea typeface="Georgia"/>
                <a:cs typeface="Georgia"/>
              </a:rPr>
              <a:t>Der Kompass heißt Wirkung.</a:t>
            </a:r>
          </a:p>
        </p:txBody>
      </p:sp>
    </p:spTree>
    <p:extLst>
      <p:ext uri="{BB962C8B-B14F-4D97-AF65-F5344CB8AC3E}">
        <p14:creationId xmlns:p14="http://schemas.microsoft.com/office/powerpoint/2010/main" val="2097368711"/>
      </p:ext>
    </p:extLst>
  </p:cSld>
</p:sld>
</file>

<file path=ppt/theme/theme1.xml><?xml version="1.0" encoding="utf-8"?>
<a:theme xmlns:a="http://schemas.openxmlformats.org/drawingml/2006/main" name="Wirkungsoekonomie">
  <a:themeElements>
    <a:clrScheme name="Wirkungsoekonomi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rkungsoekonomi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Natalie Weber</dc:creator>
  <lastModifiedBy>Natalie Weber</lastModifiedBy>
  <dc:title>Presentation</dc:title>
  <dcterms:created xsi:type="dcterms:W3CDTF">2026-05-29T07:12:02.1590000Z</dcterms:created>
  <dcterms:modified xsi:type="dcterms:W3CDTF">2026-05-29T07:12:02.1590000Z</dcterms:modified>
</coreProperties>
</file>