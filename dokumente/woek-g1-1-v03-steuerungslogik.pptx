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fafcdd0fd03044dd"/><Relationship Type="http://schemas.openxmlformats.org/officeDocument/2006/relationships/extended-properties" Target="/docProps/app.xml" Id="Re92a93c629284bf3"/><Relationship Type="http://schemas.openxmlformats.org/officeDocument/2006/relationships/officeDocument" Target="/ppt/presentation.xml" Id="Rf5acedd03e8441a2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8032673c3341d3"/>
  </p:sldMasterIdLst>
  <p:notesMasterIdLst>
    <p:notesMasterId xmlns:r="http://schemas.openxmlformats.org/officeDocument/2006/relationships" r:id="Rd734143b95b64060"/>
  </p:notesMasterIdLst>
  <p:sldIdLst>
    <p:sldId xmlns:r="http://schemas.openxmlformats.org/officeDocument/2006/relationships" id="256" r:id="R16fcc5c5ef64481d"/>
    <p:sldId xmlns:r="http://schemas.openxmlformats.org/officeDocument/2006/relationships" id="257" r:id="R5f931ea7068b4137"/>
    <p:sldId xmlns:r="http://schemas.openxmlformats.org/officeDocument/2006/relationships" id="258" r:id="Rfb07e469e91840b7"/>
    <p:sldId xmlns:r="http://schemas.openxmlformats.org/officeDocument/2006/relationships" id="259" r:id="R55c7c7280ddc4e31"/>
    <p:sldId xmlns:r="http://schemas.openxmlformats.org/officeDocument/2006/relationships" id="260" r:id="Ra31150286cb54747"/>
    <p:sldId xmlns:r="http://schemas.openxmlformats.org/officeDocument/2006/relationships" id="261" r:id="R676226cfccdf4f3f"/>
    <p:sldId xmlns:r="http://schemas.openxmlformats.org/officeDocument/2006/relationships" id="262" r:id="Rdf04863f687e4259"/>
    <p:sldId xmlns:r="http://schemas.openxmlformats.org/officeDocument/2006/relationships" id="263" r:id="R408b8e7ecccb4cea"/>
    <p:sldId xmlns:r="http://schemas.openxmlformats.org/officeDocument/2006/relationships" id="264" r:id="Rf1503739e4ab4486"/>
    <p:sldId xmlns:r="http://schemas.openxmlformats.org/officeDocument/2006/relationships" id="265" r:id="Rfd99eb1e67ee45ed"/>
    <p:sldId xmlns:r="http://schemas.openxmlformats.org/officeDocument/2006/relationships" id="266" r:id="Rad8e1ae873874a28"/>
    <p:sldId xmlns:r="http://schemas.openxmlformats.org/officeDocument/2006/relationships" id="267" r:id="R99d4d23cb5b64494"/>
    <p:sldId xmlns:r="http://schemas.openxmlformats.org/officeDocument/2006/relationships" id="268" r:id="R09ee705457314a44"/>
    <p:sldId xmlns:r="http://schemas.openxmlformats.org/officeDocument/2006/relationships" id="269" r:id="R4d743bb0b6b34186"/>
    <p:sldId xmlns:r="http://schemas.openxmlformats.org/officeDocument/2006/relationships" id="270" r:id="Rf2a1995d873b4bdb"/>
    <p:sldId xmlns:r="http://schemas.openxmlformats.org/officeDocument/2006/relationships" id="271" r:id="R726b42c5dfcc4312"/>
    <p:sldId xmlns:r="http://schemas.openxmlformats.org/officeDocument/2006/relationships" id="272" r:id="R027c66e0a0064d23"/>
    <p:sldId xmlns:r="http://schemas.openxmlformats.org/officeDocument/2006/relationships" id="273" r:id="Rbac204ef1df9490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1b8032673c3341d3"/><Relationship Type="http://schemas.openxmlformats.org/officeDocument/2006/relationships/theme" Target="/ppt/theme/theme1.xml" Id="R208f5f1393344ac2"/><Relationship Type="http://schemas.openxmlformats.org/officeDocument/2006/relationships/notesMaster" Target="/ppt/notesMasters/notesMaster1.xml" Id="Rd734143b95b64060"/><Relationship Type="http://schemas.openxmlformats.org/officeDocument/2006/relationships/presProps" Target="/ppt/presProps.xml" Id="Re0b6842430304a44"/><Relationship Type="http://schemas.openxmlformats.org/officeDocument/2006/relationships/viewProps" Target="/ppt/viewProps.xml" Id="Rab588d9a29984e93"/><Relationship Type="http://schemas.openxmlformats.org/officeDocument/2006/relationships/tableStyles" Target="/ppt/tableStyles.xml" Id="R1b1c011bb4d34a30"/><Relationship Type="http://schemas.openxmlformats.org/officeDocument/2006/relationships/slide" Target="/ppt/slides/slide1.xml" Id="R16fcc5c5ef64481d"/><Relationship Type="http://schemas.openxmlformats.org/officeDocument/2006/relationships/slide" Target="/ppt/slides/slide2.xml" Id="R5f931ea7068b4137"/><Relationship Type="http://schemas.openxmlformats.org/officeDocument/2006/relationships/slide" Target="/ppt/slides/slide3.xml" Id="Rfb07e469e91840b7"/><Relationship Type="http://schemas.openxmlformats.org/officeDocument/2006/relationships/slide" Target="/ppt/slides/slide4.xml" Id="R55c7c7280ddc4e31"/><Relationship Type="http://schemas.openxmlformats.org/officeDocument/2006/relationships/slide" Target="/ppt/slides/slide5.xml" Id="Ra31150286cb54747"/><Relationship Type="http://schemas.openxmlformats.org/officeDocument/2006/relationships/slide" Target="/ppt/slides/slide6.xml" Id="R676226cfccdf4f3f"/><Relationship Type="http://schemas.openxmlformats.org/officeDocument/2006/relationships/slide" Target="/ppt/slides/slide7.xml" Id="Rdf04863f687e4259"/><Relationship Type="http://schemas.openxmlformats.org/officeDocument/2006/relationships/slide" Target="/ppt/slides/slide8.xml" Id="R408b8e7ecccb4cea"/><Relationship Type="http://schemas.openxmlformats.org/officeDocument/2006/relationships/slide" Target="/ppt/slides/slide9.xml" Id="Rf1503739e4ab4486"/><Relationship Type="http://schemas.openxmlformats.org/officeDocument/2006/relationships/slide" Target="/ppt/slides/slide10.xml" Id="Rfd99eb1e67ee45ed"/><Relationship Type="http://schemas.openxmlformats.org/officeDocument/2006/relationships/slide" Target="/ppt/slides/slide11.xml" Id="Rad8e1ae873874a28"/><Relationship Type="http://schemas.openxmlformats.org/officeDocument/2006/relationships/slide" Target="/ppt/slides/slide12.xml" Id="R99d4d23cb5b64494"/><Relationship Type="http://schemas.openxmlformats.org/officeDocument/2006/relationships/slide" Target="/ppt/slides/slide13.xml" Id="R09ee705457314a44"/><Relationship Type="http://schemas.openxmlformats.org/officeDocument/2006/relationships/slide" Target="/ppt/slides/slide14.xml" Id="R4d743bb0b6b34186"/><Relationship Type="http://schemas.openxmlformats.org/officeDocument/2006/relationships/slide" Target="/ppt/slides/slide15.xml" Id="Rf2a1995d873b4bdb"/><Relationship Type="http://schemas.openxmlformats.org/officeDocument/2006/relationships/slide" Target="/ppt/slides/slide16.xml" Id="R726b42c5dfcc4312"/><Relationship Type="http://schemas.openxmlformats.org/officeDocument/2006/relationships/slide" Target="/ppt/slides/slide17.xml" Id="R027c66e0a0064d23"/><Relationship Type="http://schemas.openxmlformats.org/officeDocument/2006/relationships/slide" Target="/ppt/slides/slide18.xml" Id="Rbac204ef1df94902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2.xml" Id="Rd7e98635d3bd4955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Wirkungsoekonomie">
  <a:themeElements>
    <a:clrScheme name="Wirkungsoekonomi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Wirkungsoekonomi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17302df5a14c4d18"/><Relationship Type="http://schemas.openxmlformats.org/officeDocument/2006/relationships/notesMaster" Target="/ppt/notesMasters/notesMaster1.xml" Id="Rd4a59d69b4494b11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229910d57d4747ea"/><Relationship Type="http://schemas.openxmlformats.org/officeDocument/2006/relationships/notesMaster" Target="/ppt/notesMasters/notesMaster1.xml" Id="R2d182a5682f84480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bad4b3d194354b1b"/><Relationship Type="http://schemas.openxmlformats.org/officeDocument/2006/relationships/notesMaster" Target="/ppt/notesMasters/notesMaster1.xml" Id="Ra848c59c3cd34a09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b752a16e9e244b31"/><Relationship Type="http://schemas.openxmlformats.org/officeDocument/2006/relationships/notesMaster" Target="/ppt/notesMasters/notesMaster1.xml" Id="R05f0ff59cd09435b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18568d8deac0475c"/><Relationship Type="http://schemas.openxmlformats.org/officeDocument/2006/relationships/notesMaster" Target="/ppt/notesMasters/notesMaster1.xml" Id="R053504ba6fc74315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d926038fa1fd4134"/><Relationship Type="http://schemas.openxmlformats.org/officeDocument/2006/relationships/notesMaster" Target="/ppt/notesMasters/notesMaster1.xml" Id="R8c2401310df74a2f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591ded0443be40be"/><Relationship Type="http://schemas.openxmlformats.org/officeDocument/2006/relationships/notesMaster" Target="/ppt/notesMasters/notesMaster1.xml" Id="R1d851171b17e4bf1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981c26daba6048bd"/><Relationship Type="http://schemas.openxmlformats.org/officeDocument/2006/relationships/notesMaster" Target="/ppt/notesMasters/notesMaster1.xml" Id="R00fe075313404796"/></Relationships>
</file>

<file path=pp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/ppt/slides/slide9.xml" Id="Ra94698605f534f94"/><Relationship Type="http://schemas.openxmlformats.org/officeDocument/2006/relationships/notesMaster" Target="/ppt/notesMasters/notesMaster1.xml" Id="R2a0c9460b9fb46bd"/></Relationships>
</file>

<file path=ppt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/ppt/slides/slide10.xml" Id="Rb253076b05db4650"/><Relationship Type="http://schemas.openxmlformats.org/officeDocument/2006/relationships/notesMaster" Target="/ppt/notesMasters/notesMaster1.xml" Id="R2d7975b4a5ae420d"/></Relationships>
</file>

<file path=ppt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/ppt/slides/slide11.xml" Id="R30f77901b1dd45cc"/><Relationship Type="http://schemas.openxmlformats.org/officeDocument/2006/relationships/notesMaster" Target="/ppt/notesMasters/notesMaster1.xml" Id="Rec2dc19a990f4613"/></Relationships>
</file>

<file path=ppt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/ppt/slides/slide12.xml" Id="R18a553cf01614165"/><Relationship Type="http://schemas.openxmlformats.org/officeDocument/2006/relationships/notesMaster" Target="/ppt/notesMasters/notesMaster1.xml" Id="Rcfb5a82e571f4682"/></Relationships>
</file>

<file path=ppt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/ppt/slides/slide13.xml" Id="R3feab3fe7cfa46b2"/><Relationship Type="http://schemas.openxmlformats.org/officeDocument/2006/relationships/notesMaster" Target="/ppt/notesMasters/notesMaster1.xml" Id="R6169c442f7ec4ee1"/></Relationships>
</file>

<file path=ppt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/ppt/slides/slide14.xml" Id="R9a3592977c6545d9"/><Relationship Type="http://schemas.openxmlformats.org/officeDocument/2006/relationships/notesMaster" Target="/ppt/notesMasters/notesMaster1.xml" Id="R3c93ebf8bc0f411f"/></Relationships>
</file>

<file path=ppt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/ppt/slides/slide15.xml" Id="R501e52e424df4454"/><Relationship Type="http://schemas.openxmlformats.org/officeDocument/2006/relationships/notesMaster" Target="/ppt/notesMasters/notesMaster1.xml" Id="R25d61ec9f31340ac"/></Relationships>
</file>

<file path=ppt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/ppt/slides/slide16.xml" Id="Rdc40dad092324856"/><Relationship Type="http://schemas.openxmlformats.org/officeDocument/2006/relationships/notesMaster" Target="/ppt/notesMasters/notesMaster1.xml" Id="Rfcbedfa3edcb43fe"/></Relationships>
</file>

<file path=ppt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/ppt/slides/slide17.xml" Id="R3af695f074184ef0"/><Relationship Type="http://schemas.openxmlformats.org/officeDocument/2006/relationships/notesMaster" Target="/ppt/notesMasters/notesMaster1.xml" Id="Rdc59e7cd61554918"/></Relationships>
</file>

<file path=ppt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/ppt/slides/slide18.xml" Id="R496fcef261af4d3c"/><Relationship Type="http://schemas.openxmlformats.org/officeDocument/2006/relationships/notesMaster" Target="/ppt/notesMasters/notesMaster1.xml" Id="Rf86b562d55e44d8c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5be7ebd96f4347fb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82952aac6e1844df"/><Relationship Type="http://schemas.openxmlformats.org/officeDocument/2006/relationships/slideLayout" Target="/ppt/slideLayouts/slideLayout2.xml" Id="Rf00f86e18fbf450e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0f86e18fbf45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a32ea4b3973d4598"/><Relationship Type="http://schemas.openxmlformats.org/officeDocument/2006/relationships/notesSlide" Target="/ppt/notesSlides/notesSlide1.xml" Id="Ra28dff9c2b9f4038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1a2f26431c6a439b"/><Relationship Type="http://schemas.openxmlformats.org/officeDocument/2006/relationships/notesSlide" Target="/ppt/notesSlides/notesSlide2.xml" Id="Rb788a21ec795486d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489adfafe82b48c2"/><Relationship Type="http://schemas.openxmlformats.org/officeDocument/2006/relationships/notesSlide" Target="/ppt/notesSlides/notesSlide3.xml" Id="R65ad2c107d074d45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5c2bbcc3ea874b99"/><Relationship Type="http://schemas.openxmlformats.org/officeDocument/2006/relationships/notesSlide" Target="/ppt/notesSlides/notesSlide4.xml" Id="R362a486ee7b94649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9282e3ccd35e4983"/><Relationship Type="http://schemas.openxmlformats.org/officeDocument/2006/relationships/notesSlide" Target="/ppt/notesSlides/notesSlide5.xml" Id="Rf85ada50e1a44811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13f37e751b5c407b"/><Relationship Type="http://schemas.openxmlformats.org/officeDocument/2006/relationships/notesSlide" Target="/ppt/notesSlides/notesSlide6.xml" Id="Rcab77abd54c44c0f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cbd74d1024574de0"/><Relationship Type="http://schemas.openxmlformats.org/officeDocument/2006/relationships/notesSlide" Target="/ppt/notesSlides/notesSlide7.xml" Id="R7a7763fec3f34f56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b5f76d55c7e1430d"/><Relationship Type="http://schemas.openxmlformats.org/officeDocument/2006/relationships/notesSlide" Target="/ppt/notesSlides/notesSlide8.xml" Id="R780f03a98ba84736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d70acd06856b4c95"/><Relationship Type="http://schemas.openxmlformats.org/officeDocument/2006/relationships/notesSlide" Target="/ppt/notesSlides/notesSlide9.xml" Id="R9c9dc220cff24fa1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0fd0512dae78446c"/><Relationship Type="http://schemas.openxmlformats.org/officeDocument/2006/relationships/notesSlide" Target="/ppt/notesSlides/notesSlide10.xml" Id="R53884ad09c6148b6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89598fe7d9634688"/><Relationship Type="http://schemas.openxmlformats.org/officeDocument/2006/relationships/notesSlide" Target="/ppt/notesSlides/notesSlide11.xml" Id="R2c54f4597b9040c6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cb95e05827134e24"/><Relationship Type="http://schemas.openxmlformats.org/officeDocument/2006/relationships/notesSlide" Target="/ppt/notesSlides/notesSlide12.xml" Id="R259b2c7163194faf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0b0f1d45be6542cc"/><Relationship Type="http://schemas.openxmlformats.org/officeDocument/2006/relationships/notesSlide" Target="/ppt/notesSlides/notesSlide13.xml" Id="R706b728400db4a5d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86638469b3d04389"/><Relationship Type="http://schemas.openxmlformats.org/officeDocument/2006/relationships/notesSlide" Target="/ppt/notesSlides/notesSlide14.xml" Id="Rf30aa580e0f945d3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d8f96a6c6ff54b49"/><Relationship Type="http://schemas.openxmlformats.org/officeDocument/2006/relationships/notesSlide" Target="/ppt/notesSlides/notesSlide15.xml" Id="R5ac5c8f7c7864aa3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318134b8f8c74245"/><Relationship Type="http://schemas.openxmlformats.org/officeDocument/2006/relationships/notesSlide" Target="/ppt/notesSlides/notesSlide16.xml" Id="R44939b34bd5542d9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6c1c2dc389314b19"/><Relationship Type="http://schemas.openxmlformats.org/officeDocument/2006/relationships/notesSlide" Target="/ppt/notesSlides/notesSlide17.xml" Id="R92e923b8e6134397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1b07ead1b6ed427e"/><Relationship Type="http://schemas.openxmlformats.org/officeDocument/2006/relationships/notesSlide" Target="/ppt/notesSlides/notesSlide18.xml" Id="Rf9ac163e80054ddc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D64DA0-CB5B-47BE-8C85-982C54B8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BC841C-F523-4E81-832F-65B69714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343" y="576072"/>
            <a:ext cx="283464" cy="2834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1260">
            <a:solidFill>
              <a:srgbClr val="F6F1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F8E116-11CC-4C21-8815-B96147BE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" y="741426"/>
            <a:ext cx="283464" cy="2834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126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DD6F18-12CD-4792-B2AE-02680059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741426"/>
            <a:ext cx="283464" cy="28346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126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0BCA9F-3E8E-45C7-81F2-99304C6F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453" y="818198"/>
            <a:ext cx="59055" cy="590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F6F1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1A6A7C-6F9B-4685-A611-A20943C8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7810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6F1E8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F6F1E8"/>
                </a:solidFill>
                <a:latin typeface="Georgia"/>
                <a:ea typeface="Georgia"/>
                <a:cs typeface="Georgia"/>
              </a:rPr>
              <a:t>AKADEMIE FÜR 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44E40A-1CBE-4F81-BD48-F8918CCF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C89B3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4EF1A0-B32D-4F46-B480-FDF0067E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621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WÖK-G1 | MODUL G1.1 | VORLESUNG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B16B9B-BD13-4CA9-A6BC-6AB0CF92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6F1E8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6F1E8"/>
                </a:solidFill>
                <a:latin typeface="Georgia"/>
                <a:ea typeface="Georgia"/>
                <a:cs typeface="Georgia"/>
              </a:rPr>
              <a:t>Die Wirkungsökonomie als neue Steuerungslogik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33AA7E-A3C7-4EB5-B17A-CF188DA9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71850"/>
            <a:ext cx="619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7D3C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7D3CA"/>
                </a:solidFill>
                <a:latin typeface="Aptos"/>
                <a:ea typeface="Aptos"/>
                <a:cs typeface="Aptos"/>
              </a:rPr>
              <a:t>Wie Wirkung in Wirtschaft, Politik, Kapital, Medien und Alltag zurückgeführt wird.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F3782B-61FC-4750-8054-FBD2E16C2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5048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F6F1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E7032A-3DB1-43C6-A77F-2D88673B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91050"/>
            <a:ext cx="470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Kernaussage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D9AC86-BDF3-4B6E-A234-3A7B338B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38700"/>
            <a:ext cx="4705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020"/>
                </a:solidFill>
                <a:latin typeface="Aptos"/>
                <a:ea typeface="Aptos"/>
                <a:cs typeface="Aptos"/>
              </a:rPr>
              <a:t>Bewertete Wirkung kehrt in Entscheidungen zurück.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8A60F8-EF7A-4FF7-89CE-3529770D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990600"/>
            <a:ext cx="2571750" cy="2571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C89B3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746548-B012-4939-BBDC-823D9CFA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4290">
            <a:solidFill>
              <a:srgbClr val="F6F1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3E6028-3B06-4621-8DB0-45A7F440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574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4290">
            <a:solidFill>
              <a:srgbClr val="2F7D5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ADB98C-292E-4579-9197-8592BB90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574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4290">
            <a:solidFill>
              <a:srgbClr val="C89B3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817469-099F-49E1-84A2-A3BB900F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181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F6F1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7413DE-8E62-4C35-9DBB-C1019DE3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52900"/>
            <a:ext cx="3905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6F1E8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6F1E8"/>
                </a:solidFill>
                <a:latin typeface="Georgia"/>
                <a:ea typeface="Georgia"/>
                <a:cs typeface="Georgia"/>
              </a:rPr>
              <a:t>Reporting beschreibt.</a:t>
            </a:r>
          </a:p>
          <a:p xmlns:a="http://schemas.openxmlformats.org/drawingml/2006/main">
            <a:pPr algn="ctr">
              <a:defRPr sz="2025" b="1">
                <a:solidFill>
                  <a:srgbClr val="F6F1E8"/>
                </a:solidFill>
                <a:latin typeface="Georgia"/>
                <a:ea typeface="Georgia"/>
                <a:cs typeface="Georgia"/>
              </a:defRPr>
            </a:pPr>
            <a:r>
              <a:rPr sz="2025" b="1">
                <a:solidFill>
                  <a:srgbClr val="F6F1E8"/>
                </a:solidFill>
                <a:latin typeface="Georgia"/>
                <a:ea typeface="Georgia"/>
                <a:cs typeface="Georgia"/>
              </a:rPr>
              <a:t>Rückkopplung verändert.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263042-7643-4155-A07A-7DBF8FAFD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7D3C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D7D3CA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5CF55A-1BB5-42B9-8742-A256216C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D7D3C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D7D3CA"/>
                </a:solidFill>
                <a:latin typeface="Aptos"/>
                <a:ea typeface="Aptos"/>
                <a:cs typeface="Aptos"/>
              </a:rPr>
              <a:t>01 / 18</a:t>
            </a:r>
          </a:p>
        </p:txBody>
      </p:sp>
    </p:spTree>
    <p:extLst>
      <p:ext uri="{BB962C8B-B14F-4D97-AF65-F5344CB8AC3E}">
        <p14:creationId xmlns:p14="http://schemas.microsoft.com/office/powerpoint/2010/main" val="116630018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809C72-8731-4E83-A6B6-CA152B1E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CD115C-5B01-4399-8490-9FDEAE40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DC587-F62F-40F5-99AC-51F8AAF4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2F9C-3364-4DAE-9AA5-BC27EB3C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97506B-92F8-42E7-987C-86ABE847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249644-1651-453A-BDBF-717BAFCD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62E4AA-DE26-4D6D-BA46-5E98BEA8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622537-FE47-4101-AC46-2CBF5A3D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RÜCKBLICK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0C343-8E27-4298-89D8-506C0C8C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V01 und V02 führen zur Steuerungsfrage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751C7C-F209-496F-8232-AC6CF840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Maßstabskrise und Kapitalrolle werden jetzt zu einer Rückkopplungslogik verbunden.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06C65-915E-4227-9FE9-521977B8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3E1A60-D7EC-4A6F-987C-DA760006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02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F74E0F-754F-4249-8090-A102B424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52800"/>
            <a:ext cx="22383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544E53-58D3-4B88-9B48-BF83A936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505200"/>
            <a:ext cx="1895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V01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15F96E-80CB-4C37-98C4-32FBD0F18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290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93B6B1-8F34-4A0C-89CB-502F125F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019550"/>
            <a:ext cx="18954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Wir messen Bewegung,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aber nicht Richtung.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6270E6-9939-4240-AA40-048C41A2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43350"/>
            <a:ext cx="552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4DC"/>
          </a:solidFill>
          <a:ln xmlns:a="http://schemas.openxmlformats.org/drawingml/2006/main" w="0">
            <a:solidFill>
              <a:srgbClr val="E8E4D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6AE630-8998-4FCE-9C86-40585EA7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95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55B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29525F-589A-4D5D-9919-1C5995AE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52800"/>
            <a:ext cx="22383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3C4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004F4B-A86B-43CE-84C6-B8E56D37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505200"/>
            <a:ext cx="1895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V02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58ABA0-E468-479C-9EDE-B312AFF9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8290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C89B3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6C5FB4-BB43-492F-B112-D2ED7103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19550"/>
            <a:ext cx="18954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Kapital bleibt Werkzeug,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Wirkung wird Kompass.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63F5C7-1113-4D09-9B5D-05945366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43350"/>
            <a:ext cx="552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4DC"/>
          </a:solidFill>
          <a:ln xmlns:a="http://schemas.openxmlformats.org/drawingml/2006/main" w="0">
            <a:solidFill>
              <a:srgbClr val="E8E4D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0396DD-8F30-41AE-8090-2485901BB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8195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55B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9BA082-BC33-4581-A95D-A9115E54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52800"/>
            <a:ext cx="22383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9B9075-3A4F-48D0-AF81-935CD67C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505200"/>
            <a:ext cx="1895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V03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FA3ECD-1020-401D-80F4-CC0280B3E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8290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37BBE8-77A0-41AD-87CF-E21847DE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19550"/>
            <a:ext cx="18954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Wirkung kehrt in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Entscheidungen zurück.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F774D2-D405-444C-AAE2-303955FA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334000"/>
            <a:ext cx="5105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E9A5D8-AF54-462F-BC73-CD67F043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673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Systemfrage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68CCBB-D19A-4A2F-9087-FEFC0C4D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1500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6F1E8"/>
                </a:solidFill>
                <a:latin typeface="Aptos"/>
                <a:ea typeface="Aptos"/>
                <a:cs typeface="Aptos"/>
              </a:rPr>
              <a:t>Welche Entscheidung verändert sich, wenn Wirkung bekannt und bewertet ist?</a:t>
            </a:r>
          </a:p>
        </p:txBody>
      </p:sp>
    </p:spTree>
    <p:extLst>
      <p:ext uri="{BB962C8B-B14F-4D97-AF65-F5344CB8AC3E}">
        <p14:creationId xmlns:p14="http://schemas.microsoft.com/office/powerpoint/2010/main" val="49473049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DCE6E4-F3DF-4B3B-98D3-24040FA9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90C89E-9C0B-46E3-8551-167EAA7B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48124-6B7B-42D4-BC6E-D22B4139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A89CCA-E623-488C-A926-91936F9B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16A39-5575-493D-84BB-AA4A61A0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24CC6C-DFC4-4685-A5DC-43A7A6D5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538717-13F3-49B9-AB0B-6894F8BD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587CE3-22AB-4667-9952-AC9763B3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ZENTRALER SATZ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6B6C3-30D2-4FC4-AEDA-BA44E0DB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Reporting beschreibt. Wirkungsrückkopplung verändert.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F79DDE-FB7A-4701-A802-751C0485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Eine Zahl im Bericht verändert noch keinen Preis, keinen Markt und keinen Investitionspfad.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C10B91-0312-4349-AE55-E5A9E8DB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47E529-B5B7-4D50-BCEC-1908A7D4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03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4AF864-9890-450A-87B5-12A70D5A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35280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3C4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AA3E45-0753-4CB6-966F-3AC335E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50520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Reporting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B80C6-E2D3-4413-8DAD-8D313DB1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8290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C89B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59C7F2-24EA-4651-825D-95CCFB90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019550"/>
            <a:ext cx="2800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Daten sammeln, Risiken benennen, Zustände sichtbar machen.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935924-2C8C-4A5A-B4B1-EF51029F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5280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326C92-8673-4037-B5EB-08D6592C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0520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Rückkopplung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215E19-FA39-42BF-9CD0-AD7C798B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290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7EB418-A9C6-4BC7-894A-ACE81C21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19550"/>
            <a:ext cx="2800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Bewertung verändert Preise, Steuern, Kapital, Beschaffung und Entscheidungen.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821475-2FED-470D-8369-968B7A9B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038600"/>
            <a:ext cx="1352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4DC"/>
          </a:solidFill>
          <a:ln xmlns:a="http://schemas.openxmlformats.org/drawingml/2006/main" w="0">
            <a:solidFill>
              <a:srgbClr val="E8E4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CD70E7-F451-4FC4-B42E-FD31DAD0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55B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312D9E-88A4-412F-8A89-AD48983B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10200"/>
            <a:ext cx="514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4D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2BF2CF-CCBF-480D-BCF9-589CCAAE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62600"/>
            <a:ext cx="457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WÖk beginnt dort, wo Wirkung entscheidungsrelevant wird.</a:t>
            </a:r>
          </a:p>
        </p:txBody>
      </p:sp>
    </p:spTree>
    <p:extLst>
      <p:ext uri="{BB962C8B-B14F-4D97-AF65-F5344CB8AC3E}">
        <p14:creationId xmlns:p14="http://schemas.microsoft.com/office/powerpoint/2010/main" val="32419522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4D1E11-8D1E-4012-9423-C344B3E6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F36449-DC52-482F-AD69-35A9F7AD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212513-7D85-459B-9118-D94DB1BB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279A40-9956-4B90-A941-4CA5D6008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F2FA31-903E-4743-89CB-28A649C6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334728-F06F-4931-A541-2D4CBC5F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5C4221-8C86-436A-94AB-A5FB691C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10387A-DC08-4C88-A32A-055EFA15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GRUNDVERSTÄNDNIS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917985-0E1F-45AE-9CCB-51F8877F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 wird nicht erfunden - sie wird zurückgeführt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03AA26-F57A-4390-AA90-69CE5E55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Produkte, Gesetze, Kredite und Medienbeiträge wirken bereits. Die WÖk macht diese Wirkung steuerungsrelevant.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999138-B60B-440E-B6CA-631C720E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87344D-B07F-401C-8653-4A7E20E4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04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E1A136-29FA-4BCD-AC5E-05239FAB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2095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A321EA-A899-4908-B875-A5766426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099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Produkt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6E723E-2646-4123-B8DE-A72F518E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338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47C0F5-497C-4B77-804A-0946D3EB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1752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Rohstoffe, Nutzung,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Entsorgung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708311-5FF0-4D46-AB18-35C04A64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57550"/>
            <a:ext cx="2095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AF63B8-613D-4565-BDD8-18C1DEB8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099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Kredit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0F5E3E-25B5-43EC-A743-DF2C2FBE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338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5A9D2B-1039-4B12-88F7-CD27B39E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24300"/>
            <a:ext cx="1752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Welche Projekte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möglich werden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960C17-FB8B-4397-8D5A-3F54AF05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57550"/>
            <a:ext cx="2095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2BA5F1-C14B-4153-A7FF-DE1B9282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099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Gesetz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78395E-C56C-4624-8A45-51316384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338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C89B3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0A80F1-4745-4C25-BA86-BBC2D8F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24300"/>
            <a:ext cx="1752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Anreize und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Handlungsspielräume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EBAE08-F2F1-4FAC-B52C-5F064EE7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257550"/>
            <a:ext cx="2095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48E9FC-57AC-4621-AFF7-E059EA008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4099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5A4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5A4A"/>
                </a:solidFill>
                <a:latin typeface="Georgia"/>
                <a:ea typeface="Georgia"/>
                <a:cs typeface="Georgia"/>
              </a:rPr>
              <a:t>Medienbeitrag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FD8C1A-39DA-427A-B499-44EBED55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7338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0">
            <a:solidFill>
              <a:srgbClr val="C85A4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59D983-FC64-421B-9B62-CD45BB01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24300"/>
            <a:ext cx="1752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Resonanzräume und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Wirkpfade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7F047D-B0BB-4721-86C5-23D35D82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410200"/>
            <a:ext cx="5257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83FB76-9D1B-4A7E-961E-F0E1C2DD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543550"/>
            <a:ext cx="491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Leitfrage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F5C4AF-DE57-4B26-A5E6-5C532B80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791200"/>
            <a:ext cx="4914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6F1E8"/>
                </a:solidFill>
                <a:latin typeface="Aptos"/>
                <a:ea typeface="Aptos"/>
                <a:cs typeface="Aptos"/>
              </a:rPr>
              <a:t>Wie führen wir erkannte Wirkung in die Entscheidung zurück?</a:t>
            </a:r>
          </a:p>
        </p:txBody>
      </p:sp>
    </p:spTree>
    <p:extLst>
      <p:ext uri="{BB962C8B-B14F-4D97-AF65-F5344CB8AC3E}">
        <p14:creationId xmlns:p14="http://schemas.microsoft.com/office/powerpoint/2010/main" val="8748693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8F8BE3-8667-4223-8C12-2184E7A4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9A9B-8EF9-4BD9-BA27-E4B1D59D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9E57E6-E7DD-4B5B-A7A9-49290130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4D70D3-4745-4F87-8632-7B888805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84C88-727D-437A-B230-1737D6F3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8DC3DE-5FB6-4A74-925C-36F5CBAE5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A1A053-4A7E-4320-A7D3-70A58909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65EB89-7DAD-4B2D-BEB1-A2115EB1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DENKMODELL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CCD88E-3E9A-4CF1-A2AE-C761317E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Das Wirkungsrad macht das System lernfähig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953134-7AD5-48FE-80DF-D29FD135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Handlungen erzeugen Wirkungspotenziale, Bewertung führt zu Lenkung, Rückkopplung prüft das Ergebnis.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AF6437-A36F-4DA5-9320-172ABF7E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DCA95D-968E-411F-A39B-811A2374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05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67E128-E183-4508-8D85-377EED87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86100"/>
            <a:ext cx="2819400" cy="2819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E8E4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F81295-8F77-4786-AD07-3ABF09FD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82905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7D9"/>
          </a:solidFill>
          <a:ln xmlns:a="http://schemas.openxmlformats.org/drawingml/2006/main" w="9525">
            <a:solidFill>
              <a:srgbClr val="E8E4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040F25-8930-4B1B-9CD4-ACB0976A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248150"/>
            <a:ext cx="1104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020"/>
                </a:solidFill>
                <a:latin typeface="Aptos"/>
                <a:ea typeface="Aptos"/>
                <a:cs typeface="Aptos"/>
              </a:rPr>
              <a:t>Mensch</a:t>
            </a:r>
          </a:p>
          <a:p xmlns:a="http://schemas.openxmlformats.org/drawingml/2006/main">
            <a:pPr algn="ctr">
              <a:defRPr sz="1125" b="1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020"/>
                </a:solidFill>
                <a:latin typeface="Aptos"/>
                <a:ea typeface="Aptos"/>
                <a:cs typeface="Aptos"/>
              </a:rPr>
              <a:t>Planet</a:t>
            </a:r>
          </a:p>
          <a:p xmlns:a="http://schemas.openxmlformats.org/drawingml/2006/main">
            <a:pPr algn="ctr">
              <a:defRPr sz="1125" b="1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020"/>
                </a:solidFill>
                <a:latin typeface="Aptos"/>
                <a:ea typeface="Aptos"/>
                <a:cs typeface="Aptos"/>
              </a:rPr>
              <a:t>Demokratie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C15E06-D0E2-43AA-BAFB-88AD726E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52725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A7AC22-9769-4265-B798-54B85910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24175"/>
            <a:ext cx="57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Handlung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069A8E-3D1B-4984-9F3B-F22C5C58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733" y="3165617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B333E3-DFAC-4CE4-84C7-BC6AC37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0358" y="3337067"/>
            <a:ext cx="57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Potenzial/Risiko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30D08D-119A-43A0-B9BC-3C41B5F2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208" y="4407217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F95BAB-7C7C-44E7-980D-49C8EEB5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833" y="4578667"/>
            <a:ext cx="57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Zustands-</a:t>
            </a:r>
          </a:p>
          <a:p xmlns:a="http://schemas.openxmlformats.org/drawingml/2006/main">
            <a:pPr algn="ctr">
              <a:defRPr sz="825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veränderung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0ECC96-70FF-4FF2-A7DE-FAF7CE546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546" y="5503129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A2440"/>
          </a:solidFill>
          <a:ln xmlns:a="http://schemas.openxmlformats.org/drawingml/2006/main" w="9525">
            <a:solidFill>
              <a:srgbClr val="1A244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E50CDD-CDCE-4A46-B64E-38E835A4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171" y="5674579"/>
            <a:ext cx="57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Bewertung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3CA70F-DE5A-42F2-A4EE-60BB646E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652" y="5210036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B98AA5-C4C2-4AAD-B2EE-82602C54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277" y="5381486"/>
            <a:ext cx="57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Lenkung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CEA819-AB2D-47ED-854A-7B375EBE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7030" y="3869332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4F683C-18D6-473F-A592-6BF9A39F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4655" y="4040782"/>
            <a:ext cx="57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Anreize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B3865D-D64F-4639-9AC5-3A1E86AE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941589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F30D19-623A-4EEA-B9C6-8730D4BE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13039"/>
            <a:ext cx="57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Lernen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3E58C4-1F07-4A5A-A2FD-023BE3ED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27813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4D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64D081-E736-4293-9397-3A9F069B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53050"/>
            <a:ext cx="2438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Prozesslogik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3BC1B1-F214-4383-A387-2DEB0B15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00700"/>
            <a:ext cx="2438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Rückkopplung macht aus Messung eine lernende Steuerungsarchitektur.</a:t>
            </a:r>
          </a:p>
        </p:txBody>
      </p:sp>
    </p:spTree>
    <p:extLst>
      <p:ext uri="{BB962C8B-B14F-4D97-AF65-F5344CB8AC3E}">
        <p14:creationId xmlns:p14="http://schemas.microsoft.com/office/powerpoint/2010/main" val="40652915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74ED95-3045-4994-A4B8-5734B401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474751-30C1-4992-B00C-49B243DD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0C26F-E274-40ED-A182-E8164FBA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7C465-6660-4ECB-BCDA-961BB40F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47BEF-7459-4F16-854E-55CE08E0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EB5473-D605-45A5-B042-4B8356B1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116D01-B10A-4EC1-A3A9-3D6361CA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97210C-4185-4CA7-871D-1AC38F98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ABGRENZUNG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541A0D-E472-41A0-9FF3-9EA1864B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Keine Planwirtschaft: bessere Signale statt Befehle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AD43FD-ED27-4890-9B52-CBE33A6F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Die WÖk ersetzt dezentrale Entscheidungen nicht, sondern verbessert ihre Informations- und Anreizlage.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153D35-E874-4AB7-BB1B-53C7A527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59C09-EACB-47CE-8BD7-A4AF5F6CD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06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C5212E-FF48-4689-89B7-D3956749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2900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D8D3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442376-2B52-427E-9BE9-D24DC6D1F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581400"/>
            <a:ext cx="2705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5A4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5A4A"/>
                </a:solidFill>
                <a:latin typeface="Georgia"/>
                <a:ea typeface="Georgia"/>
                <a:cs typeface="Georgia"/>
              </a:rPr>
              <a:t>Befehl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5F466B-344A-4357-A34B-5B119A57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9052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0">
            <a:solidFill>
              <a:srgbClr val="C85A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C92621-82D5-4DF5-B557-EA1C9021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095750"/>
            <a:ext cx="27051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Zentrale Kontrolle entscheidet, was produziert oder gewählt wird.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DE485F-CDE4-46F5-A587-A68DE575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2900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CD32EC-0DE0-46BB-9696-04BAAA58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81400"/>
            <a:ext cx="2705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Rückkopplung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DCF341-D4E0-42BE-8FBD-7290FA32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9052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9116BC-541B-49DE-9FD6-626590C7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95750"/>
            <a:ext cx="27051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Folgen werden sichtbar und wirken auf Preis, Kapital, Beschaffung und Information.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6560A5-90CA-4A3C-BE46-A95A0B2DA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90950"/>
            <a:ext cx="533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B1020"/>
                </a:solidFill>
                <a:latin typeface="Aptos"/>
                <a:ea typeface="Aptos"/>
                <a:cs typeface="Aptos"/>
              </a:rPr>
              <a:t>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CC8F83-595A-4128-8ED4-7AE792E7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46735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4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4D0754-8445-4000-A90D-31FFA887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619750"/>
            <a:ext cx="5486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Märkte suchen in der Richtung, in der Signale gesetzt werden.</a:t>
            </a:r>
          </a:p>
        </p:txBody>
      </p:sp>
    </p:spTree>
    <p:extLst>
      <p:ext uri="{BB962C8B-B14F-4D97-AF65-F5344CB8AC3E}">
        <p14:creationId xmlns:p14="http://schemas.microsoft.com/office/powerpoint/2010/main" val="22201350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E5EE61-E4DC-4ED9-B0D3-1E185793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7173C3-9F9C-456B-9D6C-8AF6C713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E77349-1A86-4022-A6E7-B6473145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CB7C26-663E-44C9-8075-DBFDA279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AD92A5-B95F-40CB-951F-32DDAA4A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45B73D-B636-4FD1-8A67-3FD5BD28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07E76E-D364-4E89-BAB2-9724C227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ED1151-DACB-43E3-8D33-708F2C1C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WIRTSCHAFT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98AE7-8E95-475D-BE08-8180F4DB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Produkte, Preise und Lieferketten werden wirkungsfähig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7AC4BF-8689-4115-9F56-64DE4875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Ein Produkt ist verdichtete Lieferkette: Material, Arbeit, Energie, Wasser, Nutzung, Reparatur und Entsorgung.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7A8770-17F4-4B52-8653-68C37563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C8A850-C22C-4171-B672-76943533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07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AB3A9E-2EA8-4DB6-A152-EB9C1E09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71850"/>
            <a:ext cx="2095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1E22EF-DDBC-454B-8E57-06C848E2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WÖk-ID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963032-4992-4C52-A982-00FDA765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7B5C30-5C21-4682-A7E0-27C9AECE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1752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Identität und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Datenanker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AD1ADC-EEFB-402F-9DA8-F2C8D405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4DC"/>
          </a:solidFill>
          <a:ln xmlns:a="http://schemas.openxmlformats.org/drawingml/2006/main" w="0">
            <a:solidFill>
              <a:srgbClr val="E8E4D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4C21EA-E065-47C5-87FE-EB667058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8385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55B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271E95-F368-4525-98E9-FB5921E7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71850"/>
            <a:ext cx="2095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2FB832-5F44-4954-B25E-8F4B9B8F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242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Scorecard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6977F6-D7B7-4705-A664-910E25B4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8481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8436BA-EF3A-460B-A58C-D0874BAE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38600"/>
            <a:ext cx="1752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Wirkung sichtbar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machen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09D1B4-B7D0-4FF1-BB57-8AD77ECA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9624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4DC"/>
          </a:solidFill>
          <a:ln xmlns:a="http://schemas.openxmlformats.org/drawingml/2006/main" w="0">
            <a:solidFill>
              <a:srgbClr val="E8E4D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29D817-88EB-4862-8F69-FEC5EC2F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8385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55B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77C8E4-F292-4AFA-98F4-35FDBF57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71850"/>
            <a:ext cx="2095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969978-4249-42B1-AB54-AF4420F0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242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Benchmark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7DF605-C264-4727-90DF-D384C0D00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481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C89B3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5A1509-EC2D-479C-AFD3-3B2AF84F0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38600"/>
            <a:ext cx="1752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Vergleich und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Grenzen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4841F2-B3E1-4533-8341-642F82BE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9624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4DC"/>
          </a:solidFill>
          <a:ln xmlns:a="http://schemas.openxmlformats.org/drawingml/2006/main" w="0">
            <a:solidFill>
              <a:srgbClr val="E8E4D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C77F36-CE46-4DFB-85B4-4B00190E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385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55B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265020-E3EF-45C4-A5F4-F8635D5B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371850"/>
            <a:ext cx="2095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2093EE-62F3-487E-B40B-40407E94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242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5A4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5A4A"/>
                </a:solidFill>
                <a:latin typeface="Georgia"/>
                <a:ea typeface="Georgia"/>
                <a:cs typeface="Georgia"/>
              </a:rPr>
              <a:t>Rückkopplung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AE09AF-69B3-4288-AF95-EFA9D34B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481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0">
            <a:solidFill>
              <a:srgbClr val="C85A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1A6413-F464-4A34-80FD-9A2D50AF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038600"/>
            <a:ext cx="1752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Steuerklasse, Preis,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Beschaffung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83AFD0-FC11-46C5-96E5-15069227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29250"/>
            <a:ext cx="5143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1C697F-88E5-43BA-B98E-BE9944D9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562600"/>
            <a:ext cx="480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Marktlogik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BCB681-FFB5-4002-974B-399B4A08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810250"/>
            <a:ext cx="4800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1E8"/>
                </a:solidFill>
                <a:latin typeface="Aptos"/>
                <a:ea typeface="Aptos"/>
                <a:cs typeface="Aptos"/>
              </a:rPr>
              <a:t>Schlechte Wirkung verliert versteckte Vorteile. Wettbewerb sucht bessere Wirkung.</a:t>
            </a:r>
          </a:p>
        </p:txBody>
      </p:sp>
    </p:spTree>
    <p:extLst>
      <p:ext uri="{BB962C8B-B14F-4D97-AF65-F5344CB8AC3E}">
        <p14:creationId xmlns:p14="http://schemas.microsoft.com/office/powerpoint/2010/main" val="539089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9C83ED-7DDB-4082-9B75-FCCE539F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CCB13B-F2A5-4329-ABDA-5AB25377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CE24E0-696E-49F0-A812-0EE08B3E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47CBD-2ABC-45E6-B4E3-EC057815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E36627-CA74-45CA-BDF1-07310C32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7E6C51-C000-481E-8D98-635A4721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B61BF-C9DB-4B13-A73D-9DA265C6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F62F86-AEC3-4624-9468-271F8953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POLITIK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D59F43-B443-4F7B-B320-0337C69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Wirkungshaushalt und Beschaffung ändern die Staatslogik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3B87F7-678A-4E42-BF70-F3D4E929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Nicht nur: Wie viel Geld wurde eingesetzt? Sondern: Welche Zustände wurden verändert?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ADF976-68C5-42DB-A319-142257C5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BABBE5-5ED0-4494-A91E-59B96550E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08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3C603D-54A7-416A-A693-9AA4ECCF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76600"/>
            <a:ext cx="26670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3C4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D513C4-2B1A-49CC-89CE-0ADFB2E2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2900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Ausgabenlogik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0E1C46-094E-4AA0-B1DF-B3772534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528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C89B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125461-6DBF-41B3-B026-CDB02C8E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43350"/>
            <a:ext cx="2324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Budget, Fördermittel, Mittelabfluss und Programmstatus.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3C981F-A0A5-4D61-89E9-ED1F58CE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76600"/>
            <a:ext cx="26670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CA5A0A-7853-469F-9FFC-07C7FD22F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2900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Wirkungslogik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13DD74-4C64-41BC-A926-D6F67785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528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79EAFA-95A3-45EF-AE19-2C4BC1C2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43350"/>
            <a:ext cx="2324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Zustandsveränderung, Nebenwirkung, Engpass und Wirkungsempfänger.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E374E8-25BB-4E60-85AF-36CB11D5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76600"/>
            <a:ext cx="26670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5DBBE7-91C2-48B5-B027-5E2655DB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2900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Rückkopplung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FD2714-ED2B-49A2-B62A-47FBA7D2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528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C1320A-58E5-44A3-B2AD-2B7BF064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43350"/>
            <a:ext cx="2324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Haushalt, Vergabe, Förderung und Gesetzesfolgen werden angepasst.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06E6AD-E60C-4892-8D5E-AE73C247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505450"/>
            <a:ext cx="5753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425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Der Staat wird Rückkopplungsarchitekt, nicht allmächtiger Planer.</a:t>
            </a:r>
          </a:p>
        </p:txBody>
      </p:sp>
    </p:spTree>
    <p:extLst>
      <p:ext uri="{BB962C8B-B14F-4D97-AF65-F5344CB8AC3E}">
        <p14:creationId xmlns:p14="http://schemas.microsoft.com/office/powerpoint/2010/main" val="70629767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E4AC3B-3B85-4088-8CFF-4188533B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C2C4C-57AE-4073-9C4E-F690D486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978995-D3B5-47F9-AC7F-41226C8B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9B9E89-4F82-4177-B126-98B29704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CBC2F-D2A4-491D-81F7-077E3EF6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0D3CBC-96B7-4BF3-AFAE-59886D20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1DA549-5450-470D-9728-57114614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CFB3E-2EE2-469A-A923-11ADCC6CC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KAPITAL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53FD59-7FF8-490B-81B2-2F34D9AA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Rendite plus Wirkung gibt Kapital Richtung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FE635-B08A-4229-A8E9-8FA9713C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Kapital bleibt Werkzeug, aber Kapitalentscheidungen prüfen Netto-Wirkung, Resilienz und Transformationsbeitrag.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916D59-EC78-4397-8A57-74765EA8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A482A6-A9DC-4A67-B825-58B59CE9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09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3AF87B-0BE1-4CE3-8A77-E0758A12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3750"/>
            <a:ext cx="2476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DB2793-1649-486A-9D8B-8D342D7C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86150"/>
            <a:ext cx="2133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Alte Frage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8EC190-F616-4DA9-82AD-9B18A56A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100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C89B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8C7EF3-30A4-46CB-95AE-05E3688A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00500"/>
            <a:ext cx="21336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Rendite, Risiko,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Liquidität, Sicherheiten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8C4355-F733-4173-8F93-3388A02A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33750"/>
            <a:ext cx="2476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30C4B6-EA0C-45E9-958F-39DAC358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486150"/>
            <a:ext cx="2133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Neue Zusatzfrage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28CAD3-9073-4EAB-8D8F-B0D14537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8100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8FF19F-9DEA-46FE-813D-A253AF53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00500"/>
            <a:ext cx="21336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Welche Wirkung entsteht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für Mensch, Planet,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Demokratie?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282504-6241-4E41-AD78-A45975D9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33750"/>
            <a:ext cx="2476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6D9EE3-365D-41D0-95E7-B59CB38D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486150"/>
            <a:ext cx="2133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Instrumente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2A1057-6F03-4AA5-82B2-6919BFD7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8100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2CE036-791C-4FA1-959E-880EFCA3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00500"/>
            <a:ext cx="21336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T-SROI, Wirkungsfonds,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Kapitalzugang,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Versicherbarkeit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5746AA-807B-4DA7-8010-D33AFDC3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467350"/>
            <a:ext cx="5067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160FD3-71B1-4A73-A5FE-8D3B5298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00700"/>
            <a:ext cx="472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Korrektur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374987-B129-4489-98CF-70EC60F5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848350"/>
            <a:ext cx="472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1E8"/>
                </a:solidFill>
                <a:latin typeface="Aptos"/>
                <a:ea typeface="Aptos"/>
                <a:cs typeface="Aptos"/>
              </a:rPr>
              <a:t>Kapital entscheidet, welche Zukunft möglich wird. Wirkung bestimmt die Richtung.</a:t>
            </a:r>
          </a:p>
        </p:txBody>
      </p:sp>
    </p:spTree>
    <p:extLst>
      <p:ext uri="{BB962C8B-B14F-4D97-AF65-F5344CB8AC3E}">
        <p14:creationId xmlns:p14="http://schemas.microsoft.com/office/powerpoint/2010/main" val="3710101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D09508-3A47-44F3-9B5A-8548226E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873DA-7A34-4AFB-B95A-A9D24B22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EEA0A6-710F-4AA3-8EC6-E9989F81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A08D8-5171-4CD0-B756-98B57350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FE0E8-F22E-4C97-AF28-9CCD6C35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936FDA-3551-4772-969A-E851438F7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051B58-B9B7-4467-9124-D37BB5A7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65CAD3-0DD9-49E7-BEBF-5CC7F070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MEDIEN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0D7C0E-97D2-4BFF-92C4-3F650909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Öffentlichkeit ist ein Wirkungsraum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11A44F-C759-4AAF-9525-6B5693F0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Reichweite allein reicht nicht. Entscheidend ist die Qualität öffentlicher Resonanzräume.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910861-0D22-415E-ACA0-F8D3CDA9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E102F5-69D2-472A-ADD8-05E70C81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10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4E2314-19FE-49BF-A9A8-B33DF334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3375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D5EB47-006B-405B-8D26-66C67524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861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Positive Potenziale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E2E08C-3767-43FC-8556-8E5BE01D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100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886197-43B5-4238-8616-FF99F2EC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2038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Wissen, Orientierung,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Vertrauen,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Handlungsfähigkeit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623273-B402-4CC0-B4AF-78378EEA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3375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D8D3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8479D6-867E-41A6-9216-65612039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861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5A4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5A4A"/>
                </a:solidFill>
                <a:latin typeface="Georgia"/>
                <a:ea typeface="Georgia"/>
                <a:cs typeface="Georgia"/>
              </a:rPr>
              <a:t>Risiken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872852-F386-4417-AD43-3B49633D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100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0">
            <a:solidFill>
              <a:srgbClr val="C85A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DADB64-9503-436B-83F9-EE2192C6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000500"/>
            <a:ext cx="2038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Misstrauen, Angst,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Polarisierung,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Desinformation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8D295F-5287-4521-A748-D92460BD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3375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3C4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375FFC-19FA-41C4-A82A-7D5CC0F3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Standards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D38D61-5581-4EB4-8797-7586956A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8100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C89B3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9111BE-1E9E-45A1-89B9-063A7031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00500"/>
            <a:ext cx="2038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Quellenklarheit,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Korrektur,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Transparenz,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Moderation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794EF3-B501-4F19-8A49-94225DDA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54355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275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Bei Medien präzise bleiben: oft Wirkungspotenzial, Resonanzraum oder Wirkpfad.</a:t>
            </a:r>
          </a:p>
        </p:txBody>
      </p:sp>
    </p:spTree>
    <p:extLst>
      <p:ext uri="{BB962C8B-B14F-4D97-AF65-F5344CB8AC3E}">
        <p14:creationId xmlns:p14="http://schemas.microsoft.com/office/powerpoint/2010/main" val="177923370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F1C37F-6649-4C0D-A675-EF4718B3E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B565C3-BF8D-40B6-9B83-699860CF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534E5E-A0A5-48B0-8DCB-FB7E1E14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6B6829-3325-421B-8662-FC3FD5AA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3B053E-AFF0-446F-AE24-D0B14695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160955-D684-45B3-A48E-88D9DEE8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DAF14C-D3EE-45FE-80BB-FD44C664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72E48E-0904-47F2-8ED0-F09C1583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ALLTAG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F40DB3-CA93-4CBD-98C7-21C61B02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 ohne moralische Überforderung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52C35B-DC6B-4E8B-9B31-4A320375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Bürger:innen sollen nicht private Lieferkettenprüfer:innen werden. Das System muss bessere Signale geben.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ECE8F3-339E-4A4C-AA8D-7A7BE0CF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13AF91-EBCE-426E-8B83-54C448038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11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6C0923-7C81-4400-A7B6-A4C52F5A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194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5907F4-510D-4C11-A4E0-F38B0393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343275"/>
            <a:ext cx="1733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Produktpass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2122A9-390B-4AEA-902F-DF59076C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2194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9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51CBF6-5AD6-42CA-9281-39F45042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43275"/>
            <a:ext cx="1733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Wirkungsklasse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562692-ABF2-40C3-8ACB-16BCE3B1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194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0C91BF-BBF3-4F10-9D93-EF95043C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43275"/>
            <a:ext cx="1733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1020"/>
                </a:solidFill>
                <a:latin typeface="Aptos"/>
                <a:ea typeface="Aptos"/>
                <a:cs typeface="Aptos"/>
              </a:rPr>
              <a:t>Preissignal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62B8FE-F4A0-4CC6-8B28-F870704A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386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9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CAFF9F-BE68-470A-B424-FCB367E3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62425"/>
            <a:ext cx="1733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Bonus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97510C-B145-48A8-8932-3D59B306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386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B85908-5B23-4536-AF5C-62B9EBB5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162425"/>
            <a:ext cx="1733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Ampellogik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E6A65E-FA3C-4086-AE8E-C8C7A917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386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D9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E43A5D-13C5-4380-AE88-2C2A0DB2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162425"/>
            <a:ext cx="1733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faire Standards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E6E494-5C03-4D9A-8FFB-BED86CE4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334000"/>
            <a:ext cx="4838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546F2C-B8F4-4BC0-B73F-CBCF19DF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467350"/>
            <a:ext cx="449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Ziel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883831-9201-4AEF-BE25-E98D9F64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715000"/>
            <a:ext cx="449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6F1E8"/>
                </a:solidFill>
                <a:latin typeface="Aptos"/>
                <a:ea typeface="Aptos"/>
                <a:cs typeface="Aptos"/>
              </a:rPr>
              <a:t>Bessere Wirkung wird leichter, sichtbarer und bezahlbarer.</a:t>
            </a:r>
          </a:p>
        </p:txBody>
      </p:sp>
    </p:spTree>
    <p:extLst>
      <p:ext uri="{BB962C8B-B14F-4D97-AF65-F5344CB8AC3E}">
        <p14:creationId xmlns:p14="http://schemas.microsoft.com/office/powerpoint/2010/main" val="72149060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0C7170-06CA-4EFF-A94A-528ECD6A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1FBA4-4FEE-4F9A-913D-387BFEA8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A17D8-9D3A-455D-8D0B-0DF8927E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971E7-216C-447C-8E82-A7CCFEA2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5B7E58-A342-4CEB-B424-49182852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9916B7-2D18-4DF5-8A3B-B38526C1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79DA2D-8532-46A8-9152-6DD2F0FA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7523BE-618E-48A6-A207-D3F9A766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ARCHITEKTUR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2E2E7D-D8DE-4FDD-B39D-E64A9118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Fünf Rückkopplungsräume tragen die Steuerungslogik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DE1FBB-BA5C-4472-B443-C75DA710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Erst ihr Zusammenspiel macht aus Einzelinstrumenten eine Wirkungsarchitektur.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50540B-BA4D-4910-94E6-F5FD24CE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EB621D-27EF-4554-BA01-40A6DD7DB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12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45A902-219C-4428-889F-DE0EBA0E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33375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7E7578-807D-47D1-A1A9-5263A05CF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0045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86B61D-657E-4643-817B-EA2543E1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8150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Preise &amp;</a:t>
            </a:r>
          </a:p>
          <a:p xmlns:a="http://schemas.openxmlformats.org/drawingml/2006/main">
            <a:pPr algn="ctr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Steuern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9F5646-9E07-4552-8D60-EC851EA3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33375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3EA0B8-46D6-4980-8BFE-306BAEB6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60045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CDCF86-E69F-431B-8121-0C7E7C38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8150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Kapital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B91C70-315B-4B3C-B7DD-9BC47DB7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33375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7A8FBE-56D4-44EA-9A6C-C7FE6748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60045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FF1696-C5C5-460F-925F-C43FC278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8150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Öffentliche</a:t>
            </a:r>
          </a:p>
          <a:p xmlns:a="http://schemas.openxmlformats.org/drawingml/2006/main">
            <a:pPr algn="ctr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Mittel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CBB110-B3DC-4844-9C7C-08471094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3375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54E9A4-15C0-4C65-BDF9-3C4BC5DF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0045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739D65-3602-44F5-B5B2-5BF193B1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38150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5A4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5A4A"/>
                </a:solidFill>
                <a:latin typeface="Georgia"/>
                <a:ea typeface="Georgia"/>
                <a:cs typeface="Georgia"/>
              </a:rPr>
              <a:t>Organisationen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9BF85B-5C86-4920-AEFA-0B6329DB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333750"/>
            <a:ext cx="819150" cy="819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1A1232-EBB2-4D8E-AC9B-C6D2DB77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0045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C51048-CFE1-49C0-AD15-E485C077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38150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Öffentlichkeit</a:t>
            </a:r>
          </a:p>
          <a:p xmlns:a="http://schemas.openxmlformats.org/drawingml/2006/main">
            <a:pPr algn="ctr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&amp; Alltag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207C8B-99BD-4221-A81B-F96383F2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467350"/>
            <a:ext cx="5981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4D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9F1F32-E23D-4169-AF25-2608BFB9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619750"/>
            <a:ext cx="541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020"/>
                </a:solidFill>
                <a:latin typeface="Aptos"/>
                <a:ea typeface="Aptos"/>
                <a:cs typeface="Aptos"/>
              </a:rPr>
              <a:t>Ein Produktpass ohne Preiswirkung bleibt Information. Rückkopplung macht ihn wirksam.</a:t>
            </a:r>
          </a:p>
        </p:txBody>
      </p:sp>
    </p:spTree>
    <p:extLst>
      <p:ext uri="{BB962C8B-B14F-4D97-AF65-F5344CB8AC3E}">
        <p14:creationId xmlns:p14="http://schemas.microsoft.com/office/powerpoint/2010/main" val="34273220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4A09C5-F1D2-49D6-8171-E0A43588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93784E-4EA8-4B4D-924C-D7A74815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822A3B-9C39-471C-A7B9-E4BFB797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22B4FA-2E32-43FD-837A-580A3C2C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51536-CE09-4F18-8DDF-E3EC608A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D62CB-B8A4-4938-B520-DF42A169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ABE18-F111-43CA-B00C-7516DE94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AAF581-CAE5-43AD-97E5-90D77675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93A36A-DEF5-461C-8341-892C7E78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Missbrauchsschutz und demokratische Kontrolle gehören ins Zentrum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93CBCD-68C9-46B0-8285-1B58155D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Wirkungsmessung kann falsch kalibriert, manipuliert oder politisch vereinnahmt werden.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959A5-54D2-4F48-A423-5ABF9BAB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5B6BB9-2BBA-444E-9487-66DAF3342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13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D1F225-2506-426B-B042-CB195E8E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1695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7A1C03-A750-4B42-9058-FE358803E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Offene Methoden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FB4854-6770-45F9-A1CE-AC8A91B28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338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DA0D4B-9CAF-4F5E-970D-686F835B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24300"/>
            <a:ext cx="1352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Nachvollziehbare Kriterien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A98E2D-FC4F-40D1-A700-92BFB9C1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257550"/>
            <a:ext cx="1695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C6579B-C619-4EB9-B206-D0B24302D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4099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Datenqualität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92AEC3-2A78-4F04-8900-7F5D2BEF9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7338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A32A40-0685-4F37-8A66-20865A3E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924300"/>
            <a:ext cx="1352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Prüfung und Korrektur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DD6BBB-9B42-4B4D-94AC-FEF6C986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257550"/>
            <a:ext cx="1695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CBBF95-4AD6-490B-9C96-F4806E4C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4099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Wirkungsrat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B531F4-CF02-4858-A5BE-0A4762705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338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C829ED-D29C-428B-A6E7-D3408D84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924300"/>
            <a:ext cx="1352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unabhängige Kontrolle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68C7BC-E4B6-4D5C-8E59-DF8C08C3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57550"/>
            <a:ext cx="1695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CA476B-B83A-4B28-BFDB-6D3ED823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099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Einspruch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AE101F-94DB-499E-9175-49D6D99C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7338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BE0DEF-87C9-4198-B5E9-DBBAAA04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924300"/>
            <a:ext cx="1352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Korrekturmöglichkeiten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7E350A-ACDC-41D4-8DD8-0D99EF56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257550"/>
            <a:ext cx="16954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D8D3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B2B63C-BF17-4A3C-9560-941B2EDC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099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5A4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5A4A"/>
                </a:solidFill>
                <a:latin typeface="Georgia"/>
                <a:ea typeface="Georgia"/>
                <a:cs typeface="Georgia"/>
              </a:rPr>
              <a:t>Grenzen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30C6EF-A775-4776-8947-28A04DA0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7338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0">
            <a:solidFill>
              <a:srgbClr val="C85A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0F23D1-A11E-4A5B-8A84-26D116E4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924300"/>
            <a:ext cx="13525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keine Personenbewertung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485687-DD58-4ADD-9C78-B0A229E9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334000"/>
            <a:ext cx="6477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6538E1-2159-42BC-A264-3AEA53BB4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467350"/>
            <a:ext cx="613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Rote Linie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7A13D5-D31F-4BD3-AD1C-2D207136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715000"/>
            <a:ext cx="6134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1E8"/>
                </a:solidFill>
                <a:latin typeface="Aptos"/>
                <a:ea typeface="Aptos"/>
                <a:cs typeface="Aptos"/>
              </a:rPr>
              <a:t>Die WÖk ist kein Social-Credit-System. Bewertet werden Strukturen, Produkte, Kapitalflüsse und öffentliche Wirkungsräume.</a:t>
            </a:r>
          </a:p>
        </p:txBody>
      </p:sp>
    </p:spTree>
    <p:extLst>
      <p:ext uri="{BB962C8B-B14F-4D97-AF65-F5344CB8AC3E}">
        <p14:creationId xmlns:p14="http://schemas.microsoft.com/office/powerpoint/2010/main" val="183368950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3793AB-9885-42EA-BCD7-7466F443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C72B47-2BA1-4BE4-9F3D-1109138B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EFB36A-3255-461C-86AF-D16AAC5D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C68169-B020-4758-9CDA-8F431948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7ACDE1-AF1D-4C30-ABC5-86515B54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194E04-1B39-4132-8C46-197447CA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6DBBCF-7463-43AA-99C8-9BE3E638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2F8A8-DE8F-488B-9AC5-8D69EED2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BEISPIEL APFEL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848C0B-1872-474B-9CA9-7248B03C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Vom Produkt zum Marktsignal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DEE309-B8C8-421F-8C3B-99279028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Scorecard, Produktpass und Steuerklasse machen Wirkung sichtbar und markt relevant.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44B1AD-E5DA-4FD3-9581-974B1613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C148FE-8CE2-49B7-9BE0-6A067529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14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A17B16-7394-48A5-AD62-1DE6B72F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0955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B31637-214F-49CB-8B77-3F58C38A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861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Produkt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A0EFD8-1985-4E98-8B8B-5F3E219A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100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C89B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7ADD49-679D-4491-A518-4246F816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0"/>
            <a:ext cx="175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regional oder importiert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40C531-55E6-40DE-A198-B431EE98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624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4DC"/>
          </a:solidFill>
          <a:ln xmlns:a="http://schemas.openxmlformats.org/drawingml/2006/main" w="0">
            <a:solidFill>
              <a:srgbClr val="E8E4D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23EC06-942C-4EC8-9DD9-52F7DA73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8385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55B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A0CD91-C83F-4F28-AC0D-A0D3360F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333750"/>
            <a:ext cx="20955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8F1308-FDF4-4BB0-BD30-82C7CE47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861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Wirkungsdaten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D7F684-8F03-4C95-B87C-69AA51E6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8100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C89B3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83482F-6072-40CE-88D6-61E329E0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000500"/>
            <a:ext cx="175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Transport, Wasser,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Pestizide, Arbeit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E2EFB0-C11D-4CC1-A02F-2A6D6365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624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4DC"/>
          </a:solidFill>
          <a:ln xmlns:a="http://schemas.openxmlformats.org/drawingml/2006/main" w="0">
            <a:solidFill>
              <a:srgbClr val="E8E4D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B20612-7B2C-4093-9323-45557D0A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8385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55B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86110B-8752-46E1-ABD9-72AA1191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33750"/>
            <a:ext cx="20955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F78C21-0A0A-4EAA-B971-5B23478F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861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Bewertung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868383-3853-4E10-9B87-A7087581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100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46EF30-4E29-43A9-8DE7-1072311C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00500"/>
            <a:ext cx="175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Scorecard,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Produktpass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546D14-CC05-4758-8B7E-588C69228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624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4DC"/>
          </a:solidFill>
          <a:ln xmlns:a="http://schemas.openxmlformats.org/drawingml/2006/main" w="0">
            <a:solidFill>
              <a:srgbClr val="E8E4D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5ADF9E-605B-4C31-B805-2D4C9901B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3857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C655B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24BA7FA-CC60-474F-A897-0F843687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333750"/>
            <a:ext cx="20955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FB1CB7-3E58-4943-996E-EC51EE19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4861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5A4A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5A4A"/>
                </a:solidFill>
                <a:latin typeface="Georgia"/>
                <a:ea typeface="Georgia"/>
                <a:cs typeface="Georgia"/>
              </a:rPr>
              <a:t>Rückkopplung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C63BAE3-6115-4CE2-894C-6FBF8730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100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0">
            <a:solidFill>
              <a:srgbClr val="C85A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BA3121-122E-4677-9BDC-9C51428F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000500"/>
            <a:ext cx="1752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Steuerklasse,</a:t>
            </a:r>
          </a:p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Preis, Beschaffung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4628FE-0642-47D3-8A91-EF9104DF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5626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Der Markt bekommt eine andere Suchrichtung.</a:t>
            </a:r>
          </a:p>
        </p:txBody>
      </p:sp>
    </p:spTree>
    <p:extLst>
      <p:ext uri="{BB962C8B-B14F-4D97-AF65-F5344CB8AC3E}">
        <p14:creationId xmlns:p14="http://schemas.microsoft.com/office/powerpoint/2010/main" val="172953605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331F5C-5C4B-4A83-80A2-0B00B956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63A12-4C1C-492E-BAA0-EFA707E4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4F40DD-7A04-4C9B-82BF-72068E4C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C4FBB9-F38B-4AC9-B796-97A4B3FD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0CAB63-0B6A-4A92-ACB6-7C60E44D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F71345-4F57-4B14-A57B-5A8F9A69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03C651-D8FF-40DC-9CF3-C38EA8E5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82B82-1747-4663-81D0-2577649F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BEISPIEL MEDIEN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7ABD82-0EF3-41E5-82CB-E284B416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Vom Reichweitendenken zur Diskurswirkung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20EC84-DEE9-47F9-8B93-8DFDB0E6C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Ein Format kann Reichweite erzeugen und zugleich Vertrauen oder Diskursfähigkeit schwächen.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09E707-1C4B-41B3-9A79-FFCCAAB6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794A66-513A-425B-AE74-34C76BE2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15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9D605E-C05E-414E-A5FB-5BFABCE52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90900"/>
            <a:ext cx="24765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3C4"/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DA90D9-2E4B-4435-9184-9291F414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43300"/>
            <a:ext cx="2133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Alte Logik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281E49-7470-41D0-A190-D0E6879D2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671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C89B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AE3B4D-4C81-4047-B987-FD3F9CBE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57650"/>
            <a:ext cx="2133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Hohe Reichweite = hoher Erfolg.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462921-6604-4712-A015-3619DF43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90900"/>
            <a:ext cx="28575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C5A442-B08F-46C7-8F27-88BED38F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5433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C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2F7D5C"/>
                </a:solidFill>
                <a:latin typeface="Georgia"/>
                <a:ea typeface="Georgia"/>
                <a:cs typeface="Georgia"/>
              </a:rPr>
              <a:t>WÖk-Frage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BF2AA0-CE3F-4D01-AD33-B92003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8671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49232D-9ED5-4055-87AB-8BA6DE0E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57650"/>
            <a:ext cx="2514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Welche Resonanzräume und Wirkungspotenziale entstehen?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C080FB-4503-47C1-8405-4F492955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90900"/>
            <a:ext cx="28575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264A55-F3F4-4D06-BF5B-3D2A4A15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43300"/>
            <a:ext cx="2514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Rückkopplung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414318-DC37-4040-9846-C030CF50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671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FC5B01-B394-449D-B969-5813CD76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57650"/>
            <a:ext cx="2514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Standards, Quellenklarheit, Moderation, Plattformverantwortung.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A02F6B-4246-48C2-8422-E7AAAFCF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410200"/>
            <a:ext cx="5676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4B46AF-57E3-43D5-A07F-690BB850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54355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Abgrenzung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1A076C-CC9E-40EF-BBBF-81BF253A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79120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1E8"/>
                </a:solidFill>
                <a:latin typeface="Aptos"/>
                <a:ea typeface="Aptos"/>
                <a:cs typeface="Aptos"/>
              </a:rPr>
              <a:t>Medienwirkung ist nicht Zensur von Meinung, sondern Verantwortung für öffentliche Resonanzräume.</a:t>
            </a:r>
          </a:p>
        </p:txBody>
      </p:sp>
    </p:spTree>
    <p:extLst>
      <p:ext uri="{BB962C8B-B14F-4D97-AF65-F5344CB8AC3E}">
        <p14:creationId xmlns:p14="http://schemas.microsoft.com/office/powerpoint/2010/main" val="1670662866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F6457D-A2FD-448E-B391-E71C8AFDB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132B1-8FEC-41CF-BBBC-690F40A3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674A2A-64D0-437B-BAA2-2CA26B47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FAC90C-F444-4E8A-ABA4-AEE0BA37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CC8F49-5C34-4A2B-82D4-93ECA9A0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9F538F-CE27-4E4A-8FC2-D90A5B1C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9BE170-660B-44B4-988E-DBCDAF71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8C8C80-485E-4005-8455-2734734A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TRANSFERFRAGE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7D7439-2F4D-4D36-818F-819B1DCDD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Entwerfe eine einfache Wirkungsrückkopplung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80ACEA-31B4-4C56-A70C-FEF5D442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Wähle ein Beispiel aus Wirtschaft, Politik, Kapital, Medien oder Alltag.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C2176F-CFE3-4926-BA02-A53D26B3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984931-C4AE-43E5-92E5-CF4F0C37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16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B34AEF-82BE-4869-A1DB-D597723A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343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4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2F19FD-98C8-42C7-ACA8-873364C4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228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7AD300-7A13-4E14-A316-9F599FB6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81350"/>
            <a:ext cx="356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Auslöser?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5C66FA-1F8F-4B7A-8300-AC8D6A20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048000"/>
            <a:ext cx="4343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6575FE-A956-4C22-A82E-3998C98B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81350"/>
            <a:ext cx="228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318C62-2127-4377-A709-0FFB3441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81350"/>
            <a:ext cx="356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Potenziale/Risiken?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C37105-0517-4AAE-8813-35C75B99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4343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4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D6A02E-4C74-4392-A54A-F0C27CD2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24300"/>
            <a:ext cx="228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6C5855-F3A6-445D-93E8-6B56029D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924300"/>
            <a:ext cx="356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Zustandsveränderung?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CFCDFC-F3D3-4DE2-8955-4358EC76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90950"/>
            <a:ext cx="4343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505B37-39D5-47BA-9118-91F0A4D2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24300"/>
            <a:ext cx="228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DE0ACF-1C2A-4487-A608-7DCD1757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24300"/>
            <a:ext cx="356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Referenzrahmen?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C1A84D-E694-4264-AC9A-E7FC2E00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33900"/>
            <a:ext cx="4343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4D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4E869A-A049-408B-A078-E2D77477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67250"/>
            <a:ext cx="228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351726-60DF-42CD-B156-6CA80B80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67250"/>
            <a:ext cx="356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Rückkopplung?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53DAEB-77CD-45D8-8F18-6E39DE0B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533900"/>
            <a:ext cx="4343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0EA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B99CE7-755B-416D-AFCC-80F276FE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228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AA913F-6018-445A-80DF-053077E2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67250"/>
            <a:ext cx="3562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2222"/>
                </a:solidFill>
                <a:latin typeface="Aptos"/>
                <a:ea typeface="Aptos"/>
                <a:cs typeface="Aptos"/>
              </a:rPr>
              <a:t>Schutzmechanismen?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138B2A-B35B-4A53-A8C6-4433A29F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562600"/>
            <a:ext cx="5600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CEEE3EC-B9CC-4286-B0AC-7E023057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715000"/>
            <a:ext cx="502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Nicht abstrakt bleiben: Rückkopplung an einer konkreten Entscheidung entwerfen.</a:t>
            </a:r>
          </a:p>
        </p:txBody>
      </p:sp>
    </p:spTree>
    <p:extLst>
      <p:ext uri="{BB962C8B-B14F-4D97-AF65-F5344CB8AC3E}">
        <p14:creationId xmlns:p14="http://schemas.microsoft.com/office/powerpoint/2010/main" val="73460826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EB9086-B74C-4FFF-9B54-6355DCE1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F6F1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EB4FD7-E96B-40F7-82A4-FF9BA425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0B102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8696C-B474-4525-BDBD-A6241600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09EB9F-94C4-41B3-920E-3446209A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54D466-78E2-4F1F-91E6-64881CD7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9525">
            <a:solidFill>
              <a:srgbClr val="0B102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1E83B5-970C-4FF2-89CA-D57F239C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53C4A5-267B-44A3-A6C2-14116FC3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0">
            <a:solidFill>
              <a:srgbClr val="2F7D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CC4AE3-3D69-4DA2-98F7-C8D41EAD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F7D5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7D5C"/>
                </a:solidFill>
                <a:latin typeface="Aptos"/>
                <a:ea typeface="Aptos"/>
                <a:cs typeface="Aptos"/>
              </a:rPr>
              <a:t>ZUSAMMENFASSUNG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95C716-0B42-4D7C-81DF-8D81E6CE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 ersetzt nicht Freiheit - sie macht Freiheit wirklichkeitsfähiger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EEA6BB-7540-4126-900E-E47F2036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Die neue Steuerungslogik macht Wirkung sichtbar, bewertet sie und führt sie in Entscheidungen zurück.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90328D-AA3E-4097-AA77-88466DBE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17DCE-7071-4AAA-A0EA-5C10CCAB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C655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C655B"/>
                </a:solidFill>
                <a:latin typeface="Aptos"/>
                <a:ea typeface="Aptos"/>
                <a:cs typeface="Aptos"/>
              </a:rPr>
              <a:t>17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13E6F-4AD6-44A9-8BD7-1187DCD8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B1B48B-C187-40C0-94F2-A10BBC06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14675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1094CA-DF82-4F26-A924-4D9A0430E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08610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Rückkopplungsarchitektur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54C952-BB7C-45D3-9146-DCCB555D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62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07E203-DE22-44FB-98F2-1D6766E0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648075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7D1FD1-8CB0-46E5-9189-8BDDD400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61950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Wirkung = Zustandsveränderung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6C9C42-8852-497F-9D1A-C754FAE1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95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346C4B-5A11-4EC2-8ADA-1DC73298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181475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212267-AF87-47FA-AB83-7CDBBEBA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15290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Märkte bleiben, Signale werden besser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E201C2-4E46-4374-A19C-7594806E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29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D5C"/>
          </a:solidFill>
          <a:ln xmlns:a="http://schemas.openxmlformats.org/drawingml/2006/main" w="9525">
            <a:solidFill>
              <a:srgbClr val="2F7D5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72A550-4AD0-467E-ADAB-1E96BAFD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14875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879A09-F7CE-4273-8F3D-2C345762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8630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Reporting allein reicht nicht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F24663-C1B9-408C-9657-AFD9394B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62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529A82-5D55-43C3-A305-0A8616E9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48275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6F1E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6F1E8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2BE582-2DA0-4D92-A98B-4957214F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Missbrauchsschutz ist Pflicht</a:t>
            </a:r>
          </a:p>
        </p:txBody>
      </p:sp>
    </p:spTree>
    <p:extLst>
      <p:ext uri="{BB962C8B-B14F-4D97-AF65-F5344CB8AC3E}">
        <p14:creationId xmlns:p14="http://schemas.microsoft.com/office/powerpoint/2010/main" val="195925973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D78327-2385-4A7F-B363-B6D1B4C8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B6A53-E8E4-4DD3-9CCC-F5C605C9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" y="416814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F6F1E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67A33F-2867-4E7E-B1A7-8FADDA42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2F7D5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3E0705-7745-4A11-B1BA-253A2FC1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518" y="534162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240">
            <a:solidFill>
              <a:srgbClr val="C89B3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B431CC-B5DB-4B45-8A45-4CD2921FC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" y="588645"/>
            <a:ext cx="41910" cy="4191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F6F1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9222F8-98CA-4CE5-9274-BA124DE7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6F1E8"/>
                </a:solidFill>
                <a:latin typeface="Georgia"/>
                <a:ea typeface="Georgia"/>
                <a:cs typeface="Georgia"/>
              </a:defRPr>
            </a:pPr>
            <a:r>
              <a:rPr sz="1125" b="0">
                <a:solidFill>
                  <a:srgbClr val="F6F1E8"/>
                </a:solidFill>
                <a:latin typeface="Georgia"/>
                <a:ea typeface="Georgia"/>
                <a:cs typeface="Georgia"/>
              </a:rPr>
              <a:t>WIRKUNGSÖKONOMIE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BC153F-6EAC-4C8D-923B-EBE36176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C89B3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8543F8-54E8-449F-A704-1FB47232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71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89B3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9B3C"/>
                </a:solidFill>
                <a:latin typeface="Aptos"/>
                <a:ea typeface="Aptos"/>
                <a:cs typeface="Aptos"/>
              </a:rPr>
              <a:t>ÜBERLEITUNG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ECB34B-17A5-4D9E-9FD0-5742282D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8858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6F1E8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F6F1E8"/>
                </a:solidFill>
                <a:latin typeface="Georgia"/>
                <a:ea typeface="Georgia"/>
                <a:cs typeface="Georgia"/>
              </a:rPr>
              <a:t>Von Steuerungslogik zu Erfolg und Zukunft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D75943-F6B7-4EC9-A442-291676B2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7D3C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7D3CA"/>
                </a:solidFill>
                <a:latin typeface="Aptos"/>
                <a:ea typeface="Aptos"/>
                <a:cs typeface="Aptos"/>
              </a:rPr>
              <a:t>V04 fragt, warum Gewinn, Wachstum und Reichweite wichtige, aber unvollständige Erfolgsgrößen sind.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ED4855-3F7B-414C-8C81-CBB374C9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7D3CA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D7D3CA"/>
                </a:solidFill>
                <a:latin typeface="Aptos"/>
                <a:ea typeface="Aptos"/>
                <a:cs typeface="Aptos"/>
              </a:rPr>
              <a:t>WÖk-G1 | G1.1 | V03 Neue Steuerungslogik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1570B1-F6A2-4E8F-8D1F-5ED6FF72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D7D3C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D7D3CA"/>
                </a:solidFill>
                <a:latin typeface="Aptos"/>
                <a:ea typeface="Aptos"/>
                <a:cs typeface="Aptos"/>
              </a:rPr>
              <a:t>18 / 18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6E5175-B10D-4DF3-8EBA-5CC9099C8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186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A01FC2-A428-4007-A925-CE1AB8BAD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V01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AB8D34-025D-46FA-8FA1-E70DDE0D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814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D7D3C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3CA"/>
                </a:solidFill>
                <a:latin typeface="Aptos"/>
                <a:ea typeface="Aptos"/>
                <a:cs typeface="Aptos"/>
              </a:rPr>
              <a:t>Maßstabskrise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84ECB9-A4AE-4BBC-98E3-D77D9D3B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429000"/>
            <a:ext cx="186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DC068D-B73E-4826-B1BF-3B0C0604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38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V02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4ADF9B-3FF8-4864-B3CF-1C5E6290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9814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D7D3C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3CA"/>
                </a:solidFill>
                <a:latin typeface="Aptos"/>
                <a:ea typeface="Aptos"/>
                <a:cs typeface="Aptos"/>
              </a:rPr>
              <a:t>Kapital als Werkzeug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568297-17BB-4D2C-A0F9-B37579B8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29000"/>
            <a:ext cx="186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C89B3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88CD5E-955E-4810-BB83-00D42AA8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38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9B3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C89B3C"/>
                </a:solidFill>
                <a:latin typeface="Georgia"/>
                <a:ea typeface="Georgia"/>
                <a:cs typeface="Georgia"/>
              </a:rPr>
              <a:t>V03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9DC90E-5D1C-43AA-BEB3-2811079B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814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D7D3C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7D3CA"/>
                </a:solidFill>
                <a:latin typeface="Aptos"/>
                <a:ea typeface="Aptos"/>
                <a:cs typeface="Aptos"/>
              </a:rPr>
              <a:t>Rückkopplungslogik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63DDCD-C725-4325-8A0C-174A807B2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429000"/>
            <a:ext cx="186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F6F1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3851B7-9563-4745-8602-66106FE5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385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020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0B1020"/>
                </a:solidFill>
                <a:latin typeface="Georgia"/>
                <a:ea typeface="Georgia"/>
                <a:cs typeface="Georgia"/>
              </a:rPr>
              <a:t>V04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5D7CD7-07AE-42DD-9119-76C67BBD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814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222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22222"/>
                </a:solidFill>
                <a:latin typeface="Aptos"/>
                <a:ea typeface="Aptos"/>
                <a:cs typeface="Aptos"/>
              </a:rPr>
              <a:t>Erfolg und Zukunft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4F550C-D230-43B8-83EE-8A151277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257800"/>
            <a:ext cx="6591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6F1E8"/>
                </a:solidFill>
                <a:latin typeface="Georgia"/>
                <a:ea typeface="Georgia"/>
                <a:cs typeface="Georgia"/>
              </a:defRPr>
            </a:pPr>
            <a:r>
              <a:rPr sz="1950" b="1">
                <a:solidFill>
                  <a:srgbClr val="F6F1E8"/>
                </a:solidFill>
                <a:latin typeface="Georgia"/>
                <a:ea typeface="Georgia"/>
                <a:cs typeface="Georgia"/>
              </a:rPr>
              <a:t>Welche Zustände verändern Erfolgsgrößen - und in welche Richtung?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AF7D63-1EC3-4AE2-A8A7-C20C6E0E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829300"/>
            <a:ext cx="114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0">
            <a:solidFill>
              <a:srgbClr val="C89B3C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43137577"/>
      </p:ext>
    </p:extLst>
  </p:cSld>
</p:sld>
</file>

<file path=ppt/theme/theme1.xml><?xml version="1.0" encoding="utf-8"?>
<a:theme xmlns:a="http://schemas.openxmlformats.org/drawingml/2006/main" name="Wirkungsoekonomie">
  <a:themeElements>
    <a:clrScheme name="Wirkungsoekonomi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Wirkungsoekonomi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Natalie Weber</dc:creator>
  <lastModifiedBy>Natalie Weber</lastModifiedBy>
  <dc:title>Presentation</dc:title>
  <dcterms:created xsi:type="dcterms:W3CDTF">2026-05-29T07:33:35.9630000Z</dcterms:created>
  <dcterms:modified xsi:type="dcterms:W3CDTF">2026-05-29T07:33:35.9630000Z</dcterms:modified>
</coreProperties>
</file>