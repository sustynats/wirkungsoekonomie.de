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fcf37dbeb3b645ee"/><Relationship Type="http://schemas.openxmlformats.org/officeDocument/2006/relationships/extended-properties" Target="/docProps/app.xml" Id="Rd9aab19a5d884081"/><Relationship Type="http://schemas.openxmlformats.org/officeDocument/2006/relationships/officeDocument" Target="/ppt/presentation.xml" Id="R7d2464eb7e2f4f4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1667c69b614efe"/>
  </p:sldMasterIdLst>
  <p:notesMasterIdLst>
    <p:notesMasterId xmlns:r="http://schemas.openxmlformats.org/officeDocument/2006/relationships" r:id="R48c8e98f7f6d4067"/>
  </p:notesMasterIdLst>
  <p:sldIdLst>
    <p:sldId xmlns:r="http://schemas.openxmlformats.org/officeDocument/2006/relationships" id="256" r:id="Rcf0872926b7043da"/>
    <p:sldId xmlns:r="http://schemas.openxmlformats.org/officeDocument/2006/relationships" id="257" r:id="Rba8b0554e43540d2"/>
    <p:sldId xmlns:r="http://schemas.openxmlformats.org/officeDocument/2006/relationships" id="258" r:id="Rab7f2fb86afe4218"/>
    <p:sldId xmlns:r="http://schemas.openxmlformats.org/officeDocument/2006/relationships" id="259" r:id="Rc019d8f2734a4a33"/>
    <p:sldId xmlns:r="http://schemas.openxmlformats.org/officeDocument/2006/relationships" id="260" r:id="R3962fc7f0b6d40a6"/>
    <p:sldId xmlns:r="http://schemas.openxmlformats.org/officeDocument/2006/relationships" id="261" r:id="R0d0776b3336f4a3f"/>
    <p:sldId xmlns:r="http://schemas.openxmlformats.org/officeDocument/2006/relationships" id="262" r:id="R28e86f45c8a646c3"/>
    <p:sldId xmlns:r="http://schemas.openxmlformats.org/officeDocument/2006/relationships" id="263" r:id="R2730725597da49e3"/>
    <p:sldId xmlns:r="http://schemas.openxmlformats.org/officeDocument/2006/relationships" id="264" r:id="R5a31710f541d4f8b"/>
    <p:sldId xmlns:r="http://schemas.openxmlformats.org/officeDocument/2006/relationships" id="265" r:id="Rc9745baeb2a540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ee1667c69b614efe"/><Relationship Type="http://schemas.openxmlformats.org/officeDocument/2006/relationships/theme" Target="/ppt/theme/theme1.xml" Id="R7796500ad46847b1"/><Relationship Type="http://schemas.openxmlformats.org/officeDocument/2006/relationships/notesMaster" Target="/ppt/notesMasters/notesMaster1.xml" Id="R48c8e98f7f6d4067"/><Relationship Type="http://schemas.openxmlformats.org/officeDocument/2006/relationships/presProps" Target="/ppt/presProps.xml" Id="Rc7f0ac68c49f4a96"/><Relationship Type="http://schemas.openxmlformats.org/officeDocument/2006/relationships/viewProps" Target="/ppt/viewProps.xml" Id="R26a427046d6d4564"/><Relationship Type="http://schemas.openxmlformats.org/officeDocument/2006/relationships/tableStyles" Target="/ppt/tableStyles.xml" Id="R9131c7a44f7d4400"/><Relationship Type="http://schemas.openxmlformats.org/officeDocument/2006/relationships/slide" Target="/ppt/slides/slide1.xml" Id="Rcf0872926b7043da"/><Relationship Type="http://schemas.openxmlformats.org/officeDocument/2006/relationships/slide" Target="/ppt/slides/slide2.xml" Id="Rba8b0554e43540d2"/><Relationship Type="http://schemas.openxmlformats.org/officeDocument/2006/relationships/slide" Target="/ppt/slides/slide3.xml" Id="Rab7f2fb86afe4218"/><Relationship Type="http://schemas.openxmlformats.org/officeDocument/2006/relationships/slide" Target="/ppt/slides/slide4.xml" Id="Rc019d8f2734a4a33"/><Relationship Type="http://schemas.openxmlformats.org/officeDocument/2006/relationships/slide" Target="/ppt/slides/slide5.xml" Id="R3962fc7f0b6d40a6"/><Relationship Type="http://schemas.openxmlformats.org/officeDocument/2006/relationships/slide" Target="/ppt/slides/slide6.xml" Id="R0d0776b3336f4a3f"/><Relationship Type="http://schemas.openxmlformats.org/officeDocument/2006/relationships/slide" Target="/ppt/slides/slide7.xml" Id="R28e86f45c8a646c3"/><Relationship Type="http://schemas.openxmlformats.org/officeDocument/2006/relationships/slide" Target="/ppt/slides/slide8.xml" Id="R2730725597da49e3"/><Relationship Type="http://schemas.openxmlformats.org/officeDocument/2006/relationships/slide" Target="/ppt/slides/slide9.xml" Id="R5a31710f541d4f8b"/><Relationship Type="http://schemas.openxmlformats.org/officeDocument/2006/relationships/slide" Target="/ppt/slides/slide10.xml" Id="Rc9745baeb2a54037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2.xml" Id="R166884edb09645cf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Wirkungsoekonomie">
  <a:themeElements>
    <a:clrScheme name="Wirkungsoekonomi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irkungsoekonomi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e215eb5ca3bc4812"/><Relationship Type="http://schemas.openxmlformats.org/officeDocument/2006/relationships/notesMaster" Target="/ppt/notesMasters/notesMaster1.xml" Id="Rb5f4a214a3ab48d9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bf74a53750064c65"/><Relationship Type="http://schemas.openxmlformats.org/officeDocument/2006/relationships/notesMaster" Target="/ppt/notesMasters/notesMaster1.xml" Id="R21e29447bb30464b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29bb549fc5454106"/><Relationship Type="http://schemas.openxmlformats.org/officeDocument/2006/relationships/notesMaster" Target="/ppt/notesMasters/notesMaster1.xml" Id="Rc2cca63223244208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3973df887d904845"/><Relationship Type="http://schemas.openxmlformats.org/officeDocument/2006/relationships/notesMaster" Target="/ppt/notesMasters/notesMaster1.xml" Id="R936d131e5e764c08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d111f2adc9454e4a"/><Relationship Type="http://schemas.openxmlformats.org/officeDocument/2006/relationships/notesMaster" Target="/ppt/notesMasters/notesMaster1.xml" Id="R50e623449a3649fb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eef0086750134a37"/><Relationship Type="http://schemas.openxmlformats.org/officeDocument/2006/relationships/notesMaster" Target="/ppt/notesMasters/notesMaster1.xml" Id="R7e7d9819f201477d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e4603d3637c44105"/><Relationship Type="http://schemas.openxmlformats.org/officeDocument/2006/relationships/notesMaster" Target="/ppt/notesMasters/notesMaster1.xml" Id="R7ed4b4f94cdb4760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6fcdb210114f448f"/><Relationship Type="http://schemas.openxmlformats.org/officeDocument/2006/relationships/notesMaster" Target="/ppt/notesMasters/notesMaster1.xml" Id="R32411e68c0a34d41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3dc66e4627934cca"/><Relationship Type="http://schemas.openxmlformats.org/officeDocument/2006/relationships/notesMaster" Target="/ppt/notesMasters/notesMaster1.xml" Id="R34c0e10786914e4c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45b172957cf14dff"/><Relationship Type="http://schemas.openxmlformats.org/officeDocument/2006/relationships/notesMaster" Target="/ppt/notesMasters/notesMaster1.xml" Id="Ra2177d30e0094691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476c8caf3864c98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695aa851d4394f5e"/><Relationship Type="http://schemas.openxmlformats.org/officeDocument/2006/relationships/slideLayout" Target="/ppt/slideLayouts/slideLayout2.xml" Id="R2e9f0bae06a343f3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9f0bae06a3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1fa036bd77cc4be7"/><Relationship Type="http://schemas.openxmlformats.org/officeDocument/2006/relationships/notesSlide" Target="/ppt/notesSlides/notesSlide1.xml" Id="R7702fe76d3fb4891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e6215fe2876e4995"/><Relationship Type="http://schemas.openxmlformats.org/officeDocument/2006/relationships/notesSlide" Target="/ppt/notesSlides/notesSlide2.xml" Id="Ra7e6f5aa69fe423a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9224d0b5122943e0"/><Relationship Type="http://schemas.openxmlformats.org/officeDocument/2006/relationships/notesSlide" Target="/ppt/notesSlides/notesSlide3.xml" Id="R1270cdfa354f4202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a9174e0affb0445f"/><Relationship Type="http://schemas.openxmlformats.org/officeDocument/2006/relationships/notesSlide" Target="/ppt/notesSlides/notesSlide4.xml" Id="R5023625f42ba47c9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630d7e2c58ab434a"/><Relationship Type="http://schemas.openxmlformats.org/officeDocument/2006/relationships/notesSlide" Target="/ppt/notesSlides/notesSlide5.xml" Id="R8eac1fa328014c86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a67592a52e12408e"/><Relationship Type="http://schemas.openxmlformats.org/officeDocument/2006/relationships/notesSlide" Target="/ppt/notesSlides/notesSlide6.xml" Id="R723ba9c19f7c4eae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73397a5c29c44459"/><Relationship Type="http://schemas.openxmlformats.org/officeDocument/2006/relationships/notesSlide" Target="/ppt/notesSlides/notesSlide7.xml" Id="R152ab29fd0f54d9b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9b892e13c2b84f7d"/><Relationship Type="http://schemas.openxmlformats.org/officeDocument/2006/relationships/notesSlide" Target="/ppt/notesSlides/notesSlide8.xml" Id="R4b825c1dff824aaa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6422ffd199e14989"/><Relationship Type="http://schemas.openxmlformats.org/officeDocument/2006/relationships/notesSlide" Target="/ppt/notesSlides/notesSlide9.xml" Id="Rc183496fe13a4cdc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ba5e80b1dcec4dfb"/><Relationship Type="http://schemas.openxmlformats.org/officeDocument/2006/relationships/notesSlide" Target="/ppt/notesSlides/notesSlide10.xml" Id="Rba53212b92a14c5d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90ADF9B5-06ED-4790-8FD3-00A19287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B3850-38F6-47D7-974B-8DB54A91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3" y="576072"/>
            <a:ext cx="283464" cy="283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1260">
            <a:solidFill>
              <a:srgbClr val="F6F1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A9214-E4FB-4CA0-9560-8997D64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" y="741426"/>
            <a:ext cx="283464" cy="283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126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05553-03AA-46F8-B94B-2150E3CB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741426"/>
            <a:ext cx="283464" cy="283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126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EF387-705F-4174-94DE-1FD5F911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" y="81819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B85DC-11E9-4519-88AF-94A68ACB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81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AKADEMIE FÜR 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474DF-9DF6-4C12-B025-46586EFC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3C2F8-69D2-4B43-94EA-658286F3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2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WÖK-G1 | MODUL G1.1 | VORLESUNG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57271-0531-44D8-B180-425F4CC3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Die Maßstabskrise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8D758-7A0D-483E-9637-4D7F90D1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Warum unsere Gesellschaft sehr viel misst, aber oft nicht das, was wirklich zählt.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4C47F-8531-42F4-A580-AF8BDC45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7E3AE-FA45-4855-8FFD-0D8FB11E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Leitfrage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9253F-E0A3-4BEF-A101-5434E2AA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569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Wie kann eine Gesellschaft sehr viel messen und trotzdem falsch steuern?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D8B40-3C6D-4988-8673-09403096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620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F7D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15876-56B0-436B-829A-DBE30B4D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E1BE0-BDF5-4CFE-B948-DAD4E016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28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8905E-3120-42B4-B575-51413BCE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049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5D50F-D9E8-4CCE-80D3-AC10CB99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0C788-2579-421D-8C36-65518E32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56894-F541-4F66-8914-0B4ED5F5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55526-F17F-4C8F-B577-E6CD66B5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005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Tacho zeigt Bewegung.</a:t>
            </a:r>
          </a:p>
          <a:p xmlns:a="http://schemas.openxmlformats.org/drawingml/2006/main">
            <a:pPr algn="ctr">
              <a:defRPr sz="15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Kompass zeigt Richtung.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16112-EBD2-4F39-BFCD-892CA6DE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WÖk-G1 | G1.1 | V01 Die Maßstabskrise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98C6F-83D7-4B2A-8C49-78123B3E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9400640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12134365-9EC7-402E-9A6D-4F15113F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7EEE3-E142-4ECB-B9CB-AC406400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E4B06-36E5-4CA5-9F7F-84360FAA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F6111-4E76-4E61-A6A4-8AAF1EC0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C1F27-677E-4FF2-AE2E-0A446F62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9EA45-73C9-45BF-91D4-F0609C7B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AE8F1-F666-4CEC-89AB-3A73ADFE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35A0C-0497-4E3A-9534-558C01F8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DIAGNOSE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3184E-57CC-4B1A-BBB0-F34D6FAF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 messen alles. Aber was steuern wir?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941FC-52E7-4CCE-B43D-02036C29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Viele Anzeigen wirken nach Kontrolle. Ohne Wirkungsmaßstab zeigen sie Bewegung, aber keine Richtung.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3213F-8DCC-449C-9D00-4951A912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238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78348-FBA7-4A3B-9D80-FFABE94A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Die Datenzentrale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AB633-0144-43E2-A946-FF5B2DA8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69276-64DF-4A3E-A8FE-69E7AFAB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BIP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96730-8670-496A-8783-1806813C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957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D570D-624C-4847-A9B0-B4FE131E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719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Gewinn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0E96B-D79F-4C70-BEDE-6149D5E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C9631-3999-46EE-996D-8DB2920E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719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Umsatz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E22E4-5A63-46AA-A8C7-B53C1709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A08B5-ABD1-469C-8EA6-C058C335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719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Rendite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8A108-3C3A-488D-89F7-0CA24B9D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1AB184-4036-419B-851A-5E5491BF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Klicks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2ECB5-C9AF-49E9-AE83-8BE2A2FE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910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B2991-944D-4D3B-8EE7-7D92C1CB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CO2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CC2F9-B321-4C3C-A0CF-88FBC7F2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910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C12E74-F6E5-460F-9924-AE6F1018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Kosten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B60E6-9755-4A2F-83C6-C8F5410B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CE077-6F6C-4FE3-91CD-AA1A247C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Risiko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938EFC-3E45-4691-9DFC-1DC45F02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B0FEED-E951-459B-B951-8AB5462A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Views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EF516-14AE-4193-B190-61A46D89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0DDE8D-F602-4CF0-A94B-983D329F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Budget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B208D-E797-4140-92F0-0C247F78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863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CF771B-4263-4068-9E5C-312F6679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Quote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8D013-521A-4FC6-80B3-45D44FF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863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C0099F-82D0-4B76-87F5-6B110C25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Ranking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796221-B375-4063-9F4F-A76C5A60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3676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C85F38-4FCE-47CB-98AA-45F633C7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Aktivitätsmessung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C78847-AF00-4EC3-8416-8DCD5C36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242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Wie viel wurde getan, verkauft, geklickt, bewegt oder ausgegeben?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6EB5FC-0035-42D1-BF20-8B1FBF8B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3676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10C729-C58A-4D02-9A8B-9F3A8796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386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Wirkungssteuerung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DE959B-B66A-4AAE-A0D7-B33EAB64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625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Was hat sich dadurch verändert - für wen, in welchem Zeitraum, mit welchen Nebenwirkungen?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1302E7-1F29-412F-A983-96B5D931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719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27D10B-24F3-4B09-8DEF-E29B0F76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DF054E-1219-4E6C-B125-81AD36DD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67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6D7A5F-5582-4163-87EA-ACE575DC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01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Ein Tacho ersetzt keinen Kompass.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D56513-1ED5-4FCA-9F47-ABF4FBF2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V01 Die Maßstabskrise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C4CABC-3C0C-43E6-8C88-26B83460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7823997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91BED1FD-A97D-493D-B42E-11AEF9E0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31B07-C9B9-4DFF-9FB7-9E8FAC88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17C60-B08E-47EF-8FC0-94A1D13C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136D0-555E-45E1-919C-BDC7EC04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545F5-6FBD-4155-8A5D-F1833C6C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26234-E724-4AB0-AA57-6976181D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B431E-7DED-4608-AFAC-345A4A9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F0732-89F0-4BCA-B56B-3F1A9AE9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KERNUNTERSCHEIDUNG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A5EC6-17E4-4A4E-87B7-C093E20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Nicht jede Messkrise ist eine Datenlücke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EC58B-BC2E-433D-81AD-BB733439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Die Maßstabskrise beginnt dort, wo vorhandenes Wissen nicht handlungsleitend wird.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73EC6-E324-4ED5-876C-1ED17AB1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267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30B94-4247-4C2A-820A-59CC115D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Datenlücke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9C876-7B5A-405F-AE1C-AD731287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Wir wissen noch nicht genug.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8D0FB-E1D1-4FE9-A986-86B3EEF1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Es fehlen Messwerte, Studien, Erfahrungsdaten oder Beobachtungen.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037FF-707C-4C2F-805F-6816EACD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E5608-52AA-4080-B51B-25F699A8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4267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7104C-9D7A-4739-A0D7-4BA5677D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33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Maßstabskrise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8DDE5-E7F5-4FB8-B995-F406D323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Wir wissen viel, aber ordnen falsch ein.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37111-CB59-424B-9206-5B128C9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43400"/>
            <a:ext cx="3257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Daten bleiben nachgelagert, statt in Preise, Kapitalzugang, Steuern oder Entscheidungen zurückzuwirken.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5CAEC-E242-44C0-B953-CAA6ADA7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28240-C08F-4474-A2A3-2CE4418E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76850"/>
            <a:ext cx="4152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48902-1ACD-470C-8125-8F1E0A66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292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Merksatz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FEA38-B67B-4F77-9C8E-93DD1D00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531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Die Zahlen sind nicht falsch. Sie sind unvollständig als Kompass.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37368-0AFF-43F8-803C-337C0676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V01 Die Maßstabskrise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24A0A-DC12-4DFF-B67F-14B78126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9063513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84FE4DF6-7509-4E37-87F8-E6578A49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23752-1CD4-4705-9EC1-3B00BF32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69E4D-D1C8-4EEE-BC03-1F996D1F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60897-AC1C-4E93-8905-CC7ABB93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4086D-9DBF-4138-B92E-FC325AE6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AA9B2-39D2-4715-94DA-2CE58EDA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EDE5C-2C1A-4ACD-9A91-7E3FC351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35943-59CF-48DF-B73D-DEA80562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SYSTEMLOGIK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63731-DB8E-4757-A339-B8336CA2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Kennzahlen sind nicht neutral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BE678-EB4B-428C-8E34-32E6892F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Sobald eine Zahl Entscheidungen beeinflusst, wird sie zur Steuerungsgröße.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574EC-08C3-4C53-A802-5EB7CE59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F9EB5-AF83-4541-AD30-1B1AFAC0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61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D84BD-003B-43E5-BF99-BF0275F2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Messen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1444E-FEF5-4831-9787-5A3DE6AF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Was sichtbar wird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BF4EB-DC76-457D-B33E-249A7465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576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453FD-DEF9-4CEC-95FD-73344A08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337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AC734-7E31-4086-B0DE-3FEBF009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38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618C6-DBC4-4256-81EE-C606A4B3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861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EDF56-8499-4C4A-9CA7-FCE31CD6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Vergleichen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7B389-E70A-4D3F-8A4B-E9353DA0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Was zählt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6083E-DDF2-4AF1-85B2-EFD31B82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576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EBE1A-3D8D-41C2-B5B8-44AD5D8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337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B4DC2-2560-45D5-BAC6-5B364A4B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B7C77-91AD-468C-9402-06D84809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01D28A-9E8B-42C1-83BB-48605196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Belohnen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A4FF42-4797-4B08-AF22-EE685F7E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291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Wohin Kapital fließt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8A717-079D-4609-ACB6-F41EFB3F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4C5755-4384-449D-BB27-23C0DF1A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337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3D5EA-A514-4C5B-969B-A2CDDA72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8E32AF-B803-4F3B-954F-570C99C1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05D8B4-B720-4D3C-9397-809C7488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053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Optimieren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7B3704-190C-4C7C-9367-4E956EE8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291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Was wächst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43961-C7E2-411C-8199-C5D38EDB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5780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62251B-7707-42E2-A034-F8C8DDA8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Was gemessen wird, wird wichtig. Was belohnt wird, wächst. Was unsichtbar bleibt, wird benachteiligt.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5ED01-825B-42EC-B589-59380BE4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V01 Die Maßstabskrise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EB554A-8CB6-4239-B2CE-3F070CB8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1063485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D13C881A-74D7-4045-A486-BD507E4A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6AEA9-C408-4018-B0FA-A5A0B1D0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D71C8-CCB5-4183-A2C1-24C06DDB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352CD-8ABB-4A53-B668-719C8CC1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CA15B-2550-4551-A14D-126093C2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80369-4CA0-42D1-8F33-FA8FE510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B1626-4D77-4BA8-9562-BB4AE0C7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0DEF1-63A1-4492-8C2A-B3AD5C0A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ALTE ERFOLGSGRÖSSEN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B7D25-13C6-4120-BF2B-FA14CFF3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Kapital, Gewinn und Wachstum bleiben wichtig - aber unzureichend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D9965-DBAF-413B-BFF6-8DD7FBF2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Die Kritik richtet sich nicht gegen diese Größen, sondern gegen ihre Überforderung als Kompass.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46771-58CF-400D-BE5D-3DE4453C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8575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774D6-803F-4684-8958-390B5595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37F01-19B3-498B-98F0-D1FD5E1D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6CE97-A026-4E16-AE42-CB576C97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zeigt gut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F22A0-9612-4F9C-8DE6-A50444AD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gespeicherte Handlungsmöglichkeit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A86EE-763E-4263-AF25-B1B9C332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blinder Fleck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8772F-AC52-43CD-BBD5-3330D49A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zeigt Mittel, aber keine Richtung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23880-8DAD-4400-9C40-12257C4B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28575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4204E-260E-4CA7-9320-ADBA4691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Gewinn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5723C-E1FC-4D3B-8F3D-C3604217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D392E-A962-4A7C-9BC8-C79AFFA0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zeigt gut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D47B9-3732-42C8-B17A-E1EA70E1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betriebswirtschaftliche Tragfähigkeit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22C666-155F-43A3-BE59-34332005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72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blinder Fleck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AA550-8A7D-48A6-988D-BF5F2F6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006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beweist keine positive Wirkung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4B4361-0410-4AC7-A301-53E38E7D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28575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88912-A527-4693-B81A-934BC6A7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766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Wachstum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D70EC-04A7-40DF-A4A0-008CDE11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957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612732-B908-4FE0-A801-CE2A4982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zeigt gut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509F6-B924-4220-A91C-907B8C42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wirtschaftliche Aktivität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3F3942-08E4-4E6B-B181-277BDE07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blinder Fleck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CD805-931F-4928-9AFF-ECB51A7B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006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kann Zukunft schaffen oder Reparaturbedarf verdecken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2F4BCB-CF93-48D3-9DE1-45DD0FC0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62600"/>
            <a:ext cx="4419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1B4294-8298-418F-A2C4-8D46CD1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715000"/>
            <a:ext cx="407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Korrektur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8695D5-1B40-4F81-AA0D-D6ED0A7C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038850"/>
            <a:ext cx="407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Kapital bleibt Werkzeug. Wirkung wird Kompass.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9ECACE-4AEC-463C-880C-93ED5A75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V01 Die Maßstabskrise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A2C3E7-5CFF-49AF-9784-BFC994AC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4253199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E848FC92-0DC4-405F-9B3C-3B3B3E0E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0D84C-CBCA-4CB8-8B4D-99EBDB6E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53541-ED71-47B1-942D-29FF399B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26526-1E0B-4322-8886-B47FD5B4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CE69B-7535-4028-A258-B37B2759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9B75E-636D-40ED-9CF0-7DFA8273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B5175-8E81-45DB-B404-573248CE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F0B2F-A270-478E-B363-2D91A990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ÖFFENTLICHKEIT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D7FE5-B261-435E-B6B1-2DC35CF5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Reichweite ist keine Orientierung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2D99E-9303-485E-BF16-C1FC744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Klicks zeigen Aufmerksamkeit. Sie unterscheiden nicht zwischen Wissen und Verwirrung.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EE801-2821-44A9-BBE7-B09546CB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8001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1B7FA-4324-4759-B214-654185E7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9B9DC-ADCE-4E77-BFB8-520CEA8F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5C9F2-0585-4F57-B15B-442A87DA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wenig Reichweite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A8612-AE0A-42E4-AA95-B4E1297A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hohe Reichweite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5F293-EB33-4B2A-B93F-63BC900B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Orientierung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B6E47-E0FF-4570-AEDE-FC56069D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292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Desorientierung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07107-9ED2-48BF-8507-8D8AE55D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8779B3-2EA8-4065-B362-A409E6DE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Wissen</a:t>
            </a:r>
          </a:p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Vertrauen</a:t>
            </a:r>
          </a:p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Diskursfähigkeit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8724B-3F2E-4246-94CF-EF53B53B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D79D7-D11F-4B75-A39C-3438A6DA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Erregung</a:t>
            </a:r>
          </a:p>
          <a:p xmlns:a="http://schemas.openxmlformats.org/drawingml/2006/main">
            <a:pPr algn="ctr"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Misstrauen</a:t>
            </a:r>
          </a:p>
          <a:p xmlns:a="http://schemas.openxmlformats.org/drawingml/2006/main">
            <a:pPr algn="ctr"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Polarisierung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15CD0-A356-40D7-8044-FFC24EC5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5ED06-8488-41D2-AFC5-E838F56B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gute Inhalte,</a:t>
            </a:r>
          </a:p>
          <a:p xmlns:a="http://schemas.openxmlformats.org/drawingml/2006/main">
            <a:pPr algn="ctr">
              <a:defRPr sz="90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zu wenig sichtbar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8DEAC-C8BB-4234-B96A-5137BF22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1581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41CCF-0C02-418A-B2A0-9F0C6AA5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48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Leitfrage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48246-A65F-430F-B81C-ED5637D6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576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Zustände werden wahrscheinlicher?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DD4FC-1F90-4D5F-925D-BB6AC6AC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V01 Die Maßstabskrise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3503F-9B76-4763-8ECB-AB6C65EE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15403409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BE24B387-DFB3-4DFC-801E-7E885669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BE60B-5B30-4E6E-A34C-F9AEFFC5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1BCC1-BED5-409F-9297-836B58B4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479C6-D2BF-4E37-8231-B51AC6AA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12E8C-3C82-4EF2-8740-62B4881E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CF06C-15D4-40D3-A45D-6B78BE5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47D8B-0D4B-42AA-A66B-A1F8AE7F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1C1B6-E2ED-4A10-8CEE-55D8160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ALLTAGSBEISPIELE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CB5A4-A964-4CCE-8A0F-DF66FC98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Die alte Ordnung misst Bewegung und blendet Zustände aus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F9AF6-2010-4E99-8F25-CA8A15F0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T-Shirt, Apfel und BIP nach Krise zeigen dieselbe Struktur: sichtbarer Preis, unsichtbare Folgekosten.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9A674-5074-421D-972D-CE006F45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895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7A437-6DC5-43B9-9F65-D3F57308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5A4A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C85A4A"/>
                </a:solidFill>
                <a:latin typeface="Georgia"/>
                <a:ea typeface="Georgia"/>
                <a:cs typeface="Georgia"/>
              </a:rPr>
              <a:t>T-Shirt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14B57-BF7B-4E50-B2A3-8F6C1F05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81BDF-AB2E-451A-89B7-381543D1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Preis sieht: Kauf, Marge, Steuer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6A091-C743-49B4-BDBD-CA7904F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übersieht: Wasser, Chemie, Arbeit, Entsorgung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9F7B5-B7AE-422E-904D-32634E0C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2895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8F472-2293-466C-B02D-B87AFF7F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Apfel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A2DA0-69B2-4242-8138-ACEE2936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D58B4-5D46-4CD6-A88D-BA1D24B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Preis sieht: Ware und Zahlungsfluss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B650D-D6A7-468A-828A-0003CF02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3390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übersieht: Wasserstress, Biodiversität, Transport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18BEA-6814-4785-90AA-B00BA346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2895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26EC4-5C60-4AE6-8A08-4A2A1D82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766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BIP nach Krise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773D6-DFAB-46B4-97C4-4ADA0032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870E6-31AA-42C2-96F7-55418E7C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BIP sieht: Reparatur und Aufbau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966A2-3FC6-4038-A449-61C7ACB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übersieht: zerstörten Wohlstand und Risiko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DF5BA-E5C7-40B2-AEA6-6678FFD1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19700"/>
            <a:ext cx="657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7BC66-D537-44BA-B26C-217B2F91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72100"/>
            <a:ext cx="622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Systempunkt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1068C-0D9F-4CD8-BE02-3ECE9774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95950"/>
            <a:ext cx="622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Nicht Bürger:innen sollen private Lieferkettenprüfer:innen werden. Das System muss Wirkung sichtbar machen.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AD1F60-257C-4AFA-8D3C-0516953E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V01 Die Maßstabskrise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A18218-24C5-483F-A527-79D77138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6573599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61D53C7A-510D-43AE-85DC-31A0B2F0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CAFF3-42BA-470F-B428-4CE140C6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12D76-7C2A-4EAF-AB2E-01FE1946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2EE2F-F0CE-40A9-9455-B8AB9C77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381A0-0E22-4D5E-90BC-2B1F7CC0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C0136-9F64-44AB-BAEE-13E8F5E0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42A07-39CB-4473-9169-B625AB43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23CF2-152B-420E-837B-8BC115CF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BEGRIFFSARBEIT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07F9D-1D34-438C-927E-3537AE96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 ist tatsächliche Zustandsveränderung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4D659-78B8-4C34-90FD-C5362BC3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Wirkung ist zunächst neutral und relational. Erst die Bewertung ordnet positiv, negativ oder neutral ein.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B7822-C48B-4367-A143-082EDBE5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12D40-809B-4EB1-AD61-8EDBF0BD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Vorher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DCF3B-A71B-4DB8-8C85-FB2CC9A5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Zustand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DD59F-0D22-42D1-B5A2-49436148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29050"/>
            <a:ext cx="1466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F4BDC-3B86-48EC-8C97-9C96CDCA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D9B71-B7FF-48E0-B2A8-D16182F8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766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F9166-5245-4F8E-8AE1-A3F45298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433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Nachher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29D06-4397-4B08-B586-D1ED458C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243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Zustand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91EBA-12D4-40D8-8A4F-4142486A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514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50599-754A-401B-A185-231DB9EB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7680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WIRKUNG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51C88-C77A-4248-A984-3079B6B0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67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52CA4-8B94-4979-832F-B981998F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Nicht Absicht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D35F0-B692-409A-AC20-F721B8B7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Gut gemeint reicht nicht.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4EE61B-F0F4-4F6B-824C-90980984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331B2-BC24-4530-9ACE-F92DAC3C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Nicht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F8D1D-EF15-45F0-9B4C-A0A6EEA2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Teilnahme, Bericht oder Gesetz sind noch keine Wirkung.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AE581-F0EC-4C51-85C6-3CAC1D84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01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212570-1C9B-4022-B828-541D92C4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Nicht Image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6B7E20-6629-4DCB-87B2-88BACCEF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864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Außenwirkung ersetzt keine Zustandsprüfung.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12110D-A2BA-42A3-9CD3-ADEE45BA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FA7BDE-604D-4394-90CF-ABDCE2B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149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 = Veränderung von Zuständen für jemanden oder etwas.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98043-C72D-4B36-903F-D60B625A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V01 Die Maßstabskrise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E4064E-1381-45C5-ACAE-B24F1A5C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8578029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86DECD14-3C55-44F8-9C17-5E303573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CCB32-F03D-4193-9D20-7F22AFA9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9CCA7-822E-4B1D-AC64-1893FD7B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64223-7304-407F-821A-E877E6C5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9E189-44F4-4C19-A29A-019B1094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054A5-B956-404F-9572-87B67F5D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E23AC-909C-4B53-9C08-BDC6C445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2A100-E221-4613-B529-BE612E1D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REFERENZRAHMEN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4B9AE-57F4-4EF3-B7A1-87B570D5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Mensch, Planet und Demokratie bilden den Zielraum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91F69-3D8E-4E2C-ACC4-0DD00FBD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SDGs, Agenda 2030 und SDG+ machen Wirkungsbewertung nachvollziehbar, diskutierbar und lernfähig.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A0330-6C70-4980-A8DA-B69842EA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B10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85EE3-89F3-42A0-925B-E54CCFAC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767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F7D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FDC1B-74F9-4204-B23D-8ADDBCFF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767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8B68A-00EC-4BAB-AD80-B36CC381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38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4BD16-E3C7-4498-8F43-5C3454DA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0055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WIRKUNG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7E8D4-7CF2-4955-8D45-FC512BB8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Mensch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A8916-7BEA-4F67-97F3-75F48E3D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Planet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E39FC-832C-4840-ABCE-F6E2A930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Demokratie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45D6F-6B8A-4EEC-A73C-5CE68D9C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781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03DB0-2A62-476A-876D-0CE33AC2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SDGs / Agenda 2030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9949A-CE17-4CE9-8F23-2F84CB29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global verhandelter Zielrahmen für nachhaltige Entwicklung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88C1E-3AA5-454D-AB90-36C4980C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C4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BE2D7-1A05-40A3-AA9B-FC767C13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957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SDG+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65628-95D4-4834-899F-18ED8A1B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9550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Demokratie, Medienqualität, Rechtsstaatlichkeit, Vertrauen, digitale Selbstbestimmung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ABB303-F075-4281-9739-623FD755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436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Positive Wirkung stärkt diesen Zielraum. Negative Wirkung schwächt, blockiert oder zerstört ihn.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FCE743-620D-40CD-B4C4-DFB3710A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V01 Die Maßstabskrise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FEB1CC-2FCC-44EB-B8D8-6FC5A63C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17407013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BBA93C03-EA8B-4BB6-B6FA-D9F6A404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C7689-7D84-4838-9515-48DDAA7B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F6F1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ECE8D-B90F-4971-BAE9-CEF55DB2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71591-8206-4B62-ADF2-DF00D30F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C30E5-4E12-4DD9-A666-7FEF9AE9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15E84-4B59-49F9-A7BC-D025E6B3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B3B8C-6D31-49E2-9FFA-8EC63353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CEB62-2647-4CE2-BD7B-30CC0ED1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ÜBERGANG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BE372-4C79-425C-A544-766C6FDC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Von Aktivitätsmessung zu Wirkungssteuerung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EBFB3-572A-4528-8293-A9C1DE66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Die alte Frage lautet: Wie viel wurde bewegt? Die neue Frage lautet: Was hat sich dadurch verändert?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CBC10-77C5-4A16-B7F9-AC4D3E72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905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AB5AA-C810-42E8-A77C-BAA2415A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6B53F-FDE9-4CF7-A3FB-864886F7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05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7850D-52F1-4EA8-A520-D7157CCF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Aktivität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2D396-8210-4E8B-9942-A0603671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4335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produziert, verkauft,</a:t>
            </a:r>
          </a:p>
          <a:p xmlns:a="http://schemas.openxmlformats.org/drawingml/2006/main">
            <a:pPr algn="ctr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geklickt, investiert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10405-5F5C-4014-A158-EB375771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862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BFEB9-1ADC-4967-9B7C-8197A885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528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28268-B34C-4485-AE5C-74E3077A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905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714D7-7824-40E2-B589-CED286F5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EEA30-0902-4869-B9E1-8FA4A4EE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E34C9-23E5-4488-8129-81DA3D93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43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Wirkung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7AF6F-AA67-4673-B7A5-BA1A9EB0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4335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Zustände verändern</a:t>
            </a:r>
          </a:p>
          <a:p xmlns:a="http://schemas.openxmlformats.org/drawingml/2006/main">
            <a:pPr algn="ctr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sich tatsächlich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46DA5-85E8-4698-BE78-3E45E6E0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5EA7BB-F2F8-4DB6-9930-2B6CFE5C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528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C6A19B-F6AE-4257-82ED-FEFDE80D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95650"/>
            <a:ext cx="1905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7C2864-9279-42D6-A3C9-9DB3E021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6BB9C4-9A61-4613-8C63-E131112A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63C07C-92EE-4CC5-A0B0-241C066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Bewertung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EBBF35-501A-4637-AC68-766C5400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positiv, negativ</a:t>
            </a:r>
          </a:p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oder neutral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943340-EF41-4822-99E3-537305CD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862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201064-2C6F-491C-863F-5BA510FD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528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C87136-109A-40D4-B337-BB563E9D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1905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DF6117-2BFB-4546-9618-EF3D0E25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5E116E-F1CE-44C0-8710-A71C18B1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051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4064E6-475C-449A-BEF3-47698DB0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5A4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85A4A"/>
                </a:solidFill>
                <a:latin typeface="Georgia"/>
                <a:ea typeface="Georgia"/>
                <a:cs typeface="Georgia"/>
              </a:rPr>
              <a:t>Rückkopplung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0BBA56-7635-48F3-8E6D-57A8C715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4335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Preise, Steuern,</a:t>
            </a:r>
          </a:p>
          <a:p xmlns:a="http://schemas.openxmlformats.org/drawingml/2006/main">
            <a:pPr algn="ctr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Kapital, Beschaffung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FDAFD6-B0EB-406A-B7D8-25656CB0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7391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3EDFC4-BBB5-419E-BAC2-482A6D3E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91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Transferfrage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70B81B-3BAC-45C9-8AD1-900E44DD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3149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Welche Kennzahl in deinem Umfeld zeigt Bewegung, aber noch keine Wirkung?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D17B89-C26F-48FF-8205-927B7180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WÖk-G1 | G1.1 | V01 Die Maßstabskrise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194264-F93D-4641-A673-799C3707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532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60973509"/>
      </p:ext>
    </p:extLst>
  </p:cSld>
</p:sld>
</file>

<file path=ppt/theme/theme1.xml><?xml version="1.0" encoding="utf-8"?>
<a:theme xmlns:a="http://schemas.openxmlformats.org/drawingml/2006/main" name="Wirkungsoekonomie">
  <a:themeElements>
    <a:clrScheme name="Wirkungsoekonomi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irkungsoekonomi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Natalie Weber</dc:creator>
  <lastModifiedBy>Natalie Weber</lastModifiedBy>
  <dc:title>Presentation</dc:title>
  <dcterms:created xsi:type="dcterms:W3CDTF">2026-05-29T06:53:19.2950000Z</dcterms:created>
  <dcterms:modified xsi:type="dcterms:W3CDTF">2026-05-29T06:53:19.2950000Z</dcterms:modified>
</coreProperties>
</file>